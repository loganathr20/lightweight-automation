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0"/>
  </p:notesMasterIdLst>
  <p:sldIdLst>
    <p:sldId id="256" r:id="rId2"/>
    <p:sldId id="261" r:id="rId3"/>
    <p:sldId id="257" r:id="rId4"/>
    <p:sldId id="285" r:id="rId5"/>
    <p:sldId id="284" r:id="rId6"/>
    <p:sldId id="264" r:id="rId7"/>
    <p:sldId id="262" r:id="rId8"/>
    <p:sldId id="265" r:id="rId9"/>
    <p:sldId id="266" r:id="rId10"/>
    <p:sldId id="268" r:id="rId11"/>
    <p:sldId id="269" r:id="rId12"/>
    <p:sldId id="270" r:id="rId13"/>
    <p:sldId id="271" r:id="rId14"/>
    <p:sldId id="272" r:id="rId15"/>
    <p:sldId id="274" r:id="rId16"/>
    <p:sldId id="275" r:id="rId17"/>
    <p:sldId id="273" r:id="rId18"/>
    <p:sldId id="286" r:id="rId19"/>
    <p:sldId id="278" r:id="rId20"/>
    <p:sldId id="279" r:id="rId21"/>
    <p:sldId id="280" r:id="rId22"/>
    <p:sldId id="281" r:id="rId23"/>
    <p:sldId id="282" r:id="rId24"/>
    <p:sldId id="260" r:id="rId25"/>
    <p:sldId id="276" r:id="rId26"/>
    <p:sldId id="287" r:id="rId27"/>
    <p:sldId id="290" r:id="rId28"/>
    <p:sldId id="293" r:id="rId29"/>
    <p:sldId id="299" r:id="rId30"/>
    <p:sldId id="296" r:id="rId31"/>
    <p:sldId id="294" r:id="rId32"/>
    <p:sldId id="295" r:id="rId33"/>
    <p:sldId id="292" r:id="rId34"/>
    <p:sldId id="297" r:id="rId35"/>
    <p:sldId id="300" r:id="rId36"/>
    <p:sldId id="288" r:id="rId37"/>
    <p:sldId id="291" r:id="rId38"/>
    <p:sldId id="267"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ndasubbu, Loganatha Raja" initials="KLR" lastIdx="1" clrIdx="0">
    <p:extLst>
      <p:ext uri="{19B8F6BF-5375-455C-9EA6-DF929625EA0E}">
        <p15:presenceInfo xmlns:p15="http://schemas.microsoft.com/office/powerpoint/2012/main" userId="S-1-5-21-4073322790-3776612938-1436015182-510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907" autoAdjust="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2-12T15:11:26.808" idx="1">
    <p:pos x="5745" y="304"/>
    <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9-02-12T15:11:26.808" idx="1">
    <p:pos x="5745" y="304"/>
    <p:text/>
    <p:extLst>
      <p:ext uri="{C676402C-5697-4E1C-873F-D02D1690AC5C}">
        <p15:threadingInfo xmlns:p15="http://schemas.microsoft.com/office/powerpoint/2012/main" timeZoneBias="-33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9-02-12T15:11:26.808" idx="1">
    <p:pos x="5745" y="304"/>
    <p:text/>
    <p:extLst>
      <p:ext uri="{C676402C-5697-4E1C-873F-D02D1690AC5C}">
        <p15:threadingInfo xmlns:p15="http://schemas.microsoft.com/office/powerpoint/2012/main" timeZoneBias="-33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97BA6-124D-467E-AF31-1252AB3005CF}" type="datetimeFigureOut">
              <a:rPr lang="en-US" smtClean="0"/>
              <a:t>5/13/2019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AC20D9-DA6A-4CAF-BFBD-11AE772A0406}" type="slidenum">
              <a:rPr lang="en-US" smtClean="0"/>
              <a:t>‹#›</a:t>
            </a:fld>
            <a:endParaRPr lang="en-US"/>
          </a:p>
        </p:txBody>
      </p:sp>
    </p:spTree>
    <p:extLst>
      <p:ext uri="{BB962C8B-B14F-4D97-AF65-F5344CB8AC3E}">
        <p14:creationId xmlns:p14="http://schemas.microsoft.com/office/powerpoint/2010/main" val="590959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5/13/2019</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nvie.com/abou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hyperlink" Target="https://nvie.com/about/"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hyperlink" Target="https://nvie.com/about/"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repo.ca-intranet.aimia.com/scm/ac/xrez-aeroplan-com.git"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3.wmf"/></Relationships>
</file>

<file path=ppt/slides/_rels/slide36.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DD2F-07FE-4B96-8A21-7D5F7BD3CB58}"/>
              </a:ext>
            </a:extLst>
          </p:cNvPr>
          <p:cNvSpPr>
            <a:spLocks noGrp="1"/>
          </p:cNvSpPr>
          <p:nvPr>
            <p:ph type="ctrTitle"/>
          </p:nvPr>
        </p:nvSpPr>
        <p:spPr>
          <a:xfrm>
            <a:off x="684212" y="685799"/>
            <a:ext cx="8001000" cy="1586061"/>
          </a:xfrm>
        </p:spPr>
        <p:txBody>
          <a:bodyPr/>
          <a:lstStyle/>
          <a:p>
            <a:r>
              <a:rPr lang="en-US" dirty="0">
                <a:hlinkClick r:id="rId2"/>
              </a:rPr>
              <a:t>Driessen’s</a:t>
            </a:r>
            <a:r>
              <a:rPr lang="en-US" dirty="0"/>
              <a:t> Model</a:t>
            </a:r>
          </a:p>
        </p:txBody>
      </p:sp>
      <p:sp>
        <p:nvSpPr>
          <p:cNvPr id="3" name="Subtitle 2">
            <a:extLst>
              <a:ext uri="{FF2B5EF4-FFF2-40B4-BE49-F238E27FC236}">
                <a16:creationId xmlns:a16="http://schemas.microsoft.com/office/drawing/2014/main" id="{C0E3D568-1658-42FB-9715-A84BF38B7732}"/>
              </a:ext>
            </a:extLst>
          </p:cNvPr>
          <p:cNvSpPr>
            <a:spLocks noGrp="1"/>
          </p:cNvSpPr>
          <p:nvPr>
            <p:ph type="subTitle" idx="1"/>
          </p:nvPr>
        </p:nvSpPr>
        <p:spPr>
          <a:xfrm>
            <a:off x="684212" y="2806918"/>
            <a:ext cx="9845529" cy="1947333"/>
          </a:xfrm>
        </p:spPr>
        <p:txBody>
          <a:bodyPr>
            <a:noAutofit/>
          </a:bodyPr>
          <a:lstStyle/>
          <a:p>
            <a:r>
              <a:rPr lang="en-US" sz="2000" dirty="0"/>
              <a:t>A successful Git branching model</a:t>
            </a:r>
          </a:p>
          <a:p>
            <a:endParaRPr lang="en-US" sz="2000" dirty="0"/>
          </a:p>
          <a:p>
            <a:r>
              <a:rPr lang="en-US" sz="2000" b="1" dirty="0"/>
              <a:t>Target Audience:</a:t>
            </a:r>
            <a:r>
              <a:rPr lang="en-US" sz="2000" dirty="0"/>
              <a:t> Project Mangers/Leads/Developers/Testing Team,  SCM Administrators with experience in Git/Mercurial and use Distributed Version control system in their Projects.   </a:t>
            </a:r>
          </a:p>
          <a:p>
            <a:br>
              <a:rPr lang="en-US" sz="2000" dirty="0"/>
            </a:br>
            <a:endParaRPr lang="en-US" sz="2000" dirty="0"/>
          </a:p>
        </p:txBody>
      </p:sp>
    </p:spTree>
    <p:extLst>
      <p:ext uri="{BB962C8B-B14F-4D97-AF65-F5344CB8AC3E}">
        <p14:creationId xmlns:p14="http://schemas.microsoft.com/office/powerpoint/2010/main" val="1725143527"/>
      </p:ext>
    </p:extLst>
  </p:cSld>
  <p:clrMapOvr>
    <a:masterClrMapping/>
  </p:clrMapOvr>
  <p:transition spd="slow" advTm="4802">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a:bodyPr>
          <a:lstStyle/>
          <a:p>
            <a:r>
              <a:rPr lang="en-US" sz="2800" dirty="0"/>
              <a:t>GITFLOW</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1560286"/>
            <a:ext cx="10898188" cy="47397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800" dirty="0">
              <a:solidFill>
                <a:srgbClr val="333333"/>
              </a:solidFill>
              <a:latin typeface="Titillium Web"/>
            </a:endParaRPr>
          </a:p>
          <a:p>
            <a:pPr lvl="0" defTabSz="914400">
              <a:buClrTx/>
              <a:buSzTx/>
            </a:pPr>
            <a:r>
              <a:rPr lang="en-US" altLang="en-US" sz="2800" dirty="0" err="1">
                <a:solidFill>
                  <a:srgbClr val="333333"/>
                </a:solidFill>
                <a:highlight>
                  <a:srgbClr val="FFFF00"/>
                </a:highlight>
                <a:latin typeface="Titillium Web"/>
              </a:rPr>
              <a:t>GitFlow</a:t>
            </a:r>
            <a:r>
              <a:rPr lang="en-US" altLang="en-US" sz="2800" dirty="0">
                <a:solidFill>
                  <a:srgbClr val="333333"/>
                </a:solidFill>
                <a:highlight>
                  <a:srgbClr val="FFFF00"/>
                </a:highlight>
                <a:latin typeface="Titillium Web"/>
              </a:rPr>
              <a:t> is a branching model for Git, created by Vincent Driessen.</a:t>
            </a:r>
            <a:r>
              <a:rPr lang="en-US" altLang="en-US" sz="2800" dirty="0">
                <a:solidFill>
                  <a:srgbClr val="333333"/>
                </a:solidFill>
                <a:latin typeface="Titillium Web"/>
              </a:rPr>
              <a:t> It has attracted a lot of attention because it is very well suited to collaboration and scaling the development team. </a:t>
            </a:r>
          </a:p>
          <a:p>
            <a:pPr lvl="0" defTabSz="914400">
              <a:buClrTx/>
              <a:buSzTx/>
            </a:pPr>
            <a:endParaRPr lang="en-US" altLang="en-US" sz="2800" dirty="0">
              <a:solidFill>
                <a:srgbClr val="333333"/>
              </a:solidFill>
              <a:latin typeface="Titillium Web"/>
            </a:endParaRPr>
          </a:p>
          <a:p>
            <a:pPr lvl="0" defTabSz="914400">
              <a:buClrTx/>
              <a:buSzTx/>
            </a:pPr>
            <a:r>
              <a:rPr lang="en-US" altLang="en-US" sz="2800" dirty="0">
                <a:solidFill>
                  <a:srgbClr val="333333"/>
                </a:solidFill>
                <a:latin typeface="Titillium Web"/>
              </a:rPr>
              <a:t>One of the great things about </a:t>
            </a:r>
            <a:r>
              <a:rPr lang="en-US" altLang="en-US" sz="2800" dirty="0" err="1">
                <a:solidFill>
                  <a:srgbClr val="333333"/>
                </a:solidFill>
                <a:latin typeface="Titillium Web"/>
              </a:rPr>
              <a:t>GitFlow</a:t>
            </a:r>
            <a:r>
              <a:rPr lang="en-US" altLang="en-US" sz="2800" dirty="0">
                <a:solidFill>
                  <a:srgbClr val="333333"/>
                </a:solidFill>
                <a:latin typeface="Titillium Web"/>
              </a:rPr>
              <a:t> is that it makes parallel development very easy, by isolating new development from finished work. New development (such as features and non-emergency bug fixes) is done in feature branches, and is only merged back into main body of code when the developer(s) is happy that the code is ready for release.</a:t>
            </a:r>
          </a:p>
          <a:p>
            <a:pPr lvl="0" defTabSz="914400">
              <a:buClrTx/>
              <a:buSzTx/>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7201815"/>
      </p:ext>
    </p:extLst>
  </p:cSld>
  <p:clrMapOvr>
    <a:masterClrMapping/>
  </p:clrMapOvr>
  <p:transition spd="slow" advTm="12191">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nvie.com/img/centr-decentr@2x.png">
            <a:extLst>
              <a:ext uri="{FF2B5EF4-FFF2-40B4-BE49-F238E27FC236}">
                <a16:creationId xmlns:a16="http://schemas.microsoft.com/office/drawing/2014/main" id="{95F8F591-6B04-4999-9C51-100E9E32D756}"/>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2580640" y="64030"/>
            <a:ext cx="6224588" cy="46132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7BDCBAB5-7A27-4079-A5DC-13EF1241E73F}"/>
              </a:ext>
            </a:extLst>
          </p:cNvPr>
          <p:cNvSpPr>
            <a:spLocks noGrp="1" noChangeArrowheads="1"/>
          </p:cNvSpPr>
          <p:nvPr>
            <p:ph type="title"/>
          </p:nvPr>
        </p:nvSpPr>
        <p:spPr bwMode="auto">
          <a:xfrm>
            <a:off x="1076960" y="4876931"/>
            <a:ext cx="10017760" cy="17235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44" tIns="0" rIns="12696"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accent2"/>
                </a:solidFill>
                <a:effectLst/>
                <a:latin typeface="Titillium Web"/>
              </a:rPr>
              <a:t>Decentralized but Centralized:</a:t>
            </a:r>
            <a:br>
              <a:rPr kumimoji="0" lang="en-US" altLang="en-US" sz="2800" b="1" i="0" u="none" strike="noStrike" cap="none" normalizeH="0" baseline="0" dirty="0">
                <a:ln>
                  <a:noFill/>
                </a:ln>
                <a:solidFill>
                  <a:schemeClr val="accent2"/>
                </a:solidFill>
                <a:effectLst/>
                <a:latin typeface="Titillium Web"/>
              </a:rPr>
            </a:br>
            <a:r>
              <a:rPr kumimoji="0" lang="en-US" altLang="en-US" sz="2800" b="1" i="0" u="none" strike="noStrike" cap="none" normalizeH="0" baseline="0" dirty="0">
                <a:ln>
                  <a:noFill/>
                </a:ln>
                <a:solidFill>
                  <a:srgbClr val="333333"/>
                </a:solidFill>
                <a:effectLst/>
                <a:latin typeface="Titillium Web"/>
              </a:rPr>
              <a:t>As Git is DVCS, there is no such thing as a central repo at a technical level. We will refer to </a:t>
            </a:r>
            <a:r>
              <a:rPr lang="en-US" altLang="en-US" sz="2800" b="1" cap="none" dirty="0">
                <a:ln>
                  <a:noFill/>
                </a:ln>
                <a:solidFill>
                  <a:srgbClr val="333333"/>
                </a:solidFill>
                <a:latin typeface="Titillium Web"/>
              </a:rPr>
              <a:t>main </a:t>
            </a:r>
            <a:r>
              <a:rPr kumimoji="0" lang="en-US" altLang="en-US" sz="2800" b="1" i="0" u="none" strike="noStrike" cap="none" normalizeH="0" baseline="0" dirty="0">
                <a:ln>
                  <a:noFill/>
                </a:ln>
                <a:solidFill>
                  <a:srgbClr val="333333"/>
                </a:solidFill>
                <a:effectLst/>
                <a:latin typeface="Titillium Web"/>
              </a:rPr>
              <a:t>repo as </a:t>
            </a:r>
            <a:r>
              <a:rPr kumimoji="0" lang="en-US" altLang="en-US" sz="2800" b="1" i="0" u="none" strike="noStrike" cap="none" normalizeH="0" baseline="0" dirty="0">
                <a:ln>
                  <a:noFill/>
                </a:ln>
                <a:solidFill>
                  <a:srgbClr val="333333"/>
                </a:solidFill>
                <a:effectLst/>
                <a:latin typeface="Inconsolata"/>
              </a:rPr>
              <a:t>origin</a:t>
            </a:r>
            <a:r>
              <a:rPr kumimoji="0" lang="en-US" altLang="en-US" sz="2800" b="1" i="0" u="none" strike="noStrike" cap="none" normalizeH="0" baseline="0" dirty="0">
                <a:ln>
                  <a:noFill/>
                </a:ln>
                <a:solidFill>
                  <a:srgbClr val="333333"/>
                </a:solidFill>
                <a:effectLst/>
                <a:latin typeface="Titillium Web"/>
              </a:rPr>
              <a:t>, since this name is familiar to all Git users</a:t>
            </a:r>
            <a:r>
              <a:rPr kumimoji="0" lang="en-US" altLang="en-US" sz="2800" b="1" i="0" u="none" strike="noStrike" cap="none" normalizeH="0" baseline="0" dirty="0">
                <a:ln>
                  <a:noFill/>
                </a:ln>
                <a:solidFill>
                  <a:schemeClr val="tx1"/>
                </a:solidFill>
                <a:effectLst/>
              </a:rPr>
              <a:t> </a:t>
            </a:r>
            <a:endParaRPr kumimoji="0" lang="en-US" altLang="en-US" sz="2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6500484"/>
      </p:ext>
    </p:extLst>
  </p:cSld>
  <p:clrMapOvr>
    <a:masterClrMapping/>
  </p:clrMapOvr>
  <p:transition spd="slow" advTm="10393">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DD2F-07FE-4B96-8A21-7D5F7BD3CB58}"/>
              </a:ext>
            </a:extLst>
          </p:cNvPr>
          <p:cNvSpPr>
            <a:spLocks noGrp="1"/>
          </p:cNvSpPr>
          <p:nvPr>
            <p:ph type="ctrTitle"/>
          </p:nvPr>
        </p:nvSpPr>
        <p:spPr/>
        <p:txBody>
          <a:bodyPr/>
          <a:lstStyle/>
          <a:p>
            <a:r>
              <a:rPr lang="en-US" dirty="0" err="1">
                <a:hlinkClick r:id="rId2"/>
              </a:rPr>
              <a:t>Gitflow</a:t>
            </a:r>
            <a:r>
              <a:rPr lang="en-US" dirty="0">
                <a:hlinkClick r:id="rId2"/>
              </a:rPr>
              <a:t> /Driessen</a:t>
            </a:r>
            <a:r>
              <a:rPr lang="en-US" dirty="0"/>
              <a:t> Model</a:t>
            </a:r>
          </a:p>
        </p:txBody>
      </p:sp>
      <p:sp>
        <p:nvSpPr>
          <p:cNvPr id="3" name="Subtitle 2">
            <a:extLst>
              <a:ext uri="{FF2B5EF4-FFF2-40B4-BE49-F238E27FC236}">
                <a16:creationId xmlns:a16="http://schemas.microsoft.com/office/drawing/2014/main" id="{C0E3D568-1658-42FB-9715-A84BF38B7732}"/>
              </a:ext>
            </a:extLst>
          </p:cNvPr>
          <p:cNvSpPr>
            <a:spLocks noGrp="1"/>
          </p:cNvSpPr>
          <p:nvPr>
            <p:ph type="subTitle" idx="1"/>
          </p:nvPr>
        </p:nvSpPr>
        <p:spPr/>
        <p:txBody>
          <a:bodyPr>
            <a:normAutofit/>
          </a:bodyPr>
          <a:lstStyle/>
          <a:p>
            <a:r>
              <a:rPr lang="en-US" sz="2800" dirty="0"/>
              <a:t>In Detail</a:t>
            </a:r>
            <a:br>
              <a:rPr lang="en-US" sz="2800" dirty="0"/>
            </a:br>
            <a:endParaRPr lang="en-US" sz="2800" dirty="0"/>
          </a:p>
        </p:txBody>
      </p:sp>
    </p:spTree>
    <p:extLst>
      <p:ext uri="{BB962C8B-B14F-4D97-AF65-F5344CB8AC3E}">
        <p14:creationId xmlns:p14="http://schemas.microsoft.com/office/powerpoint/2010/main" val="3825865791"/>
      </p:ext>
    </p:extLst>
  </p:cSld>
  <p:clrMapOvr>
    <a:masterClrMapping/>
  </p:clrMapOvr>
  <p:transition spd="slow" advTm="2498">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703066" y="75027"/>
            <a:ext cx="8001000" cy="695961"/>
          </a:xfrm>
        </p:spPr>
        <p:txBody>
          <a:bodyPr>
            <a:normAutofit fontScale="90000"/>
          </a:bodyPr>
          <a:lstStyle/>
          <a:p>
            <a:r>
              <a:rPr lang="en-US" dirty="0"/>
              <a:t>Main branches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913955"/>
            <a:ext cx="10898188" cy="60324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333333"/>
                </a:solidFill>
                <a:effectLst/>
                <a:latin typeface="Titillium Web"/>
              </a:rPr>
              <a:t>At the core, the development model is greatly inspired by existing models out there. The central repo (origin) holds two main branches with an infinite lifetime: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solidFill>
                  <a:srgbClr val="333333"/>
                </a:solidFill>
                <a:latin typeface="Inconsolata"/>
              </a:rPr>
              <a:t> origin: </a:t>
            </a:r>
            <a:r>
              <a:rPr kumimoji="0" lang="en-US" altLang="en-US" sz="2800" b="0" i="0" u="none" strike="noStrike" cap="none" normalizeH="0" baseline="0" dirty="0">
                <a:ln>
                  <a:noFill/>
                </a:ln>
                <a:solidFill>
                  <a:srgbClr val="333333"/>
                </a:solidFill>
                <a:effectLst/>
                <a:latin typeface="Inconsolata"/>
              </a:rPr>
              <a:t>master </a:t>
            </a:r>
            <a:endParaRPr kumimoji="0" lang="en-US" altLang="en-US" sz="2800" b="0" i="0" u="none" strike="noStrike" cap="none" normalizeH="0" baseline="0" dirty="0">
              <a:ln>
                <a:noFill/>
              </a:ln>
              <a:solidFill>
                <a:srgbClr val="333333"/>
              </a:solidFill>
              <a:effectLst/>
              <a:latin typeface="Titillium Web"/>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solidFill>
                  <a:srgbClr val="333333"/>
                </a:solidFill>
                <a:latin typeface="Inconsolata"/>
              </a:rPr>
              <a:t> origin: </a:t>
            </a:r>
            <a:r>
              <a:rPr kumimoji="0" lang="en-US" altLang="en-US" sz="2800" b="0" i="0" u="none" strike="noStrike" cap="none" normalizeH="0" baseline="0" dirty="0">
                <a:ln>
                  <a:noFill/>
                </a:ln>
                <a:solidFill>
                  <a:srgbClr val="333333"/>
                </a:solidFill>
                <a:effectLst/>
                <a:latin typeface="Inconsolata"/>
              </a:rPr>
              <a:t>develop</a:t>
            </a:r>
          </a:p>
          <a:p>
            <a:pPr marL="0" marR="0" lvl="0" indent="0" algn="l" defTabSz="914400" rtl="0" eaLnBrk="0" fontAlgn="base" latinLnBrk="0" hangingPunct="0">
              <a:lnSpc>
                <a:spcPct val="100000"/>
              </a:lnSpc>
              <a:spcBef>
                <a:spcPct val="0"/>
              </a:spcBef>
              <a:spcAft>
                <a:spcPct val="0"/>
              </a:spcAft>
              <a:buClrTx/>
              <a:buSzTx/>
              <a:tabLst/>
            </a:pPr>
            <a:endParaRPr lang="en-US" altLang="en-US" sz="2800" dirty="0">
              <a:solidFill>
                <a:srgbClr val="333333"/>
              </a:solidFill>
              <a:latin typeface="Inconsolata"/>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rgbClr val="333333"/>
                </a:solidFill>
                <a:effectLst/>
                <a:latin typeface="Inconsolata"/>
              </a:rPr>
              <a:t>Ideally develop branch is owned by development manager and master branch by SCM Leads.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rgbClr val="333333"/>
              </a:solidFill>
              <a:effectLst/>
              <a:latin typeface="Titillium Web"/>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333333"/>
                </a:solidFill>
                <a:effectLst/>
                <a:latin typeface="Titillium Web"/>
              </a:rPr>
              <a:t>The </a:t>
            </a:r>
            <a:r>
              <a:rPr kumimoji="0" lang="en-US" altLang="en-US" sz="2800" b="0" i="0" u="none" strike="noStrike" cap="none" normalizeH="0" baseline="0" dirty="0">
                <a:ln>
                  <a:noFill/>
                </a:ln>
                <a:solidFill>
                  <a:srgbClr val="333333"/>
                </a:solidFill>
                <a:effectLst/>
                <a:latin typeface="Inconsolata"/>
              </a:rPr>
              <a:t>master</a:t>
            </a:r>
            <a:r>
              <a:rPr kumimoji="0" lang="en-US" altLang="en-US" sz="2800" b="0" i="0" u="none" strike="noStrike" cap="none" normalizeH="0" baseline="0" dirty="0">
                <a:ln>
                  <a:noFill/>
                </a:ln>
                <a:solidFill>
                  <a:srgbClr val="333333"/>
                </a:solidFill>
                <a:effectLst/>
                <a:latin typeface="Titillium Web"/>
              </a:rPr>
              <a:t> branch at </a:t>
            </a:r>
            <a:r>
              <a:rPr kumimoji="0" lang="en-US" altLang="en-US" sz="2800" b="0" i="0" u="none" strike="noStrike" cap="none" normalizeH="0" baseline="0" dirty="0">
                <a:ln>
                  <a:noFill/>
                </a:ln>
                <a:solidFill>
                  <a:srgbClr val="333333"/>
                </a:solidFill>
                <a:effectLst/>
                <a:latin typeface="Inconsolata"/>
              </a:rPr>
              <a:t>origin</a:t>
            </a:r>
            <a:r>
              <a:rPr kumimoji="0" lang="en-US" altLang="en-US" sz="2800" b="0" i="0" u="none" strike="noStrike" cap="none" normalizeH="0" baseline="0" dirty="0">
                <a:ln>
                  <a:noFill/>
                </a:ln>
                <a:solidFill>
                  <a:srgbClr val="333333"/>
                </a:solidFill>
                <a:effectLst/>
                <a:latin typeface="Titillium Web"/>
              </a:rPr>
              <a:t> should be familiar to every Git user. Parallel to the </a:t>
            </a:r>
            <a:r>
              <a:rPr kumimoji="0" lang="en-US" altLang="en-US" sz="2800" b="0" i="0" u="none" strike="noStrike" cap="none" normalizeH="0" baseline="0" dirty="0">
                <a:ln>
                  <a:noFill/>
                </a:ln>
                <a:solidFill>
                  <a:srgbClr val="333333"/>
                </a:solidFill>
                <a:effectLst/>
                <a:latin typeface="Inconsolata"/>
              </a:rPr>
              <a:t>master</a:t>
            </a:r>
            <a:r>
              <a:rPr kumimoji="0" lang="en-US" altLang="en-US" sz="2800" b="0" i="0" u="none" strike="noStrike" cap="none" normalizeH="0" baseline="0" dirty="0">
                <a:ln>
                  <a:noFill/>
                </a:ln>
                <a:solidFill>
                  <a:srgbClr val="333333"/>
                </a:solidFill>
                <a:effectLst/>
                <a:latin typeface="Titillium Web"/>
              </a:rPr>
              <a:t> branch, another branch exists called </a:t>
            </a:r>
            <a:r>
              <a:rPr kumimoji="0" lang="en-US" altLang="en-US" sz="2800" b="0" i="0" u="none" strike="noStrike" cap="none" normalizeH="0" baseline="0" dirty="0">
                <a:ln>
                  <a:noFill/>
                </a:ln>
                <a:solidFill>
                  <a:srgbClr val="333333"/>
                </a:solidFill>
                <a:effectLst/>
                <a:latin typeface="Inconsolata"/>
              </a:rPr>
              <a:t>develop</a:t>
            </a:r>
            <a:r>
              <a:rPr kumimoji="0" lang="en-US" altLang="en-US" sz="2800" b="0" i="0" u="none" strike="noStrike" cap="none" normalizeH="0" baseline="0" dirty="0">
                <a:ln>
                  <a:noFill/>
                </a:ln>
                <a:solidFill>
                  <a:srgbClr val="333333"/>
                </a:solidFill>
                <a:effectLst/>
                <a:latin typeface="Titillium Web"/>
              </a:rPr>
              <a:t>.</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333333"/>
                </a:solidFill>
                <a:effectLst/>
                <a:latin typeface="Titillium Web"/>
              </a:rPr>
              <a:t>We consider </a:t>
            </a:r>
            <a:r>
              <a:rPr kumimoji="0" lang="en-US" altLang="en-US" sz="2800" b="0" i="0" u="none" strike="noStrike" cap="none" normalizeH="0" baseline="0" dirty="0">
                <a:ln>
                  <a:noFill/>
                </a:ln>
                <a:solidFill>
                  <a:srgbClr val="333333"/>
                </a:solidFill>
                <a:effectLst/>
                <a:latin typeface="Inconsolata"/>
              </a:rPr>
              <a:t>origin/master</a:t>
            </a:r>
            <a:r>
              <a:rPr kumimoji="0" lang="en-US" altLang="en-US" sz="2800" b="0" i="0" u="none" strike="noStrike" cap="none" normalizeH="0" baseline="0" dirty="0">
                <a:ln>
                  <a:noFill/>
                </a:ln>
                <a:solidFill>
                  <a:srgbClr val="333333"/>
                </a:solidFill>
                <a:effectLst/>
                <a:latin typeface="Titillium Web"/>
              </a:rPr>
              <a:t> to be the main branch where the source code of </a:t>
            </a:r>
            <a:r>
              <a:rPr kumimoji="0" lang="en-US" altLang="en-US" sz="2800" b="0" i="0" u="none" strike="noStrike" cap="none" normalizeH="0" baseline="0" dirty="0">
                <a:ln>
                  <a:noFill/>
                </a:ln>
                <a:solidFill>
                  <a:srgbClr val="333333"/>
                </a:solidFill>
                <a:effectLst/>
                <a:latin typeface="Inconsolata"/>
              </a:rPr>
              <a:t>HEAD</a:t>
            </a:r>
            <a:r>
              <a:rPr kumimoji="0" lang="en-US" altLang="en-US" sz="2800" b="0" i="0" u="none" strike="noStrike" cap="none" normalizeH="0" baseline="0" dirty="0">
                <a:ln>
                  <a:noFill/>
                </a:ln>
                <a:solidFill>
                  <a:srgbClr val="333333"/>
                </a:solidFill>
                <a:effectLst/>
                <a:latin typeface="Titillium Web"/>
              </a:rPr>
              <a:t> always reflects a </a:t>
            </a:r>
            <a:r>
              <a:rPr kumimoji="0" lang="en-US" altLang="en-US" sz="2800" b="0" i="1" u="none" strike="noStrike" cap="none" normalizeH="0" baseline="0" dirty="0">
                <a:ln>
                  <a:noFill/>
                </a:ln>
                <a:solidFill>
                  <a:srgbClr val="333333"/>
                </a:solidFill>
                <a:effectLst/>
                <a:latin typeface="Titillium Web"/>
              </a:rPr>
              <a:t>production-ready</a:t>
            </a:r>
            <a:r>
              <a:rPr kumimoji="0" lang="en-US" altLang="en-US" sz="2800" b="0" i="0" u="none" strike="noStrike" cap="none" normalizeH="0" baseline="0" dirty="0">
                <a:ln>
                  <a:noFill/>
                </a:ln>
                <a:solidFill>
                  <a:srgbClr val="333333"/>
                </a:solidFill>
                <a:effectLst/>
                <a:latin typeface="Titillium Web"/>
              </a:rPr>
              <a:t> state.</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0382305"/>
      </p:ext>
    </p:extLst>
  </p:cSld>
  <p:clrMapOvr>
    <a:masterClrMapping/>
  </p:clrMapOvr>
  <p:transition spd="slow" advTm="16558">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fontScale="90000"/>
          </a:bodyPr>
          <a:lstStyle/>
          <a:p>
            <a:r>
              <a:rPr lang="en-US" dirty="0"/>
              <a:t>Main branches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2083504"/>
            <a:ext cx="10898188"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2400" dirty="0">
                <a:solidFill>
                  <a:srgbClr val="333333"/>
                </a:solidFill>
                <a:latin typeface="Titillium Web"/>
              </a:rPr>
              <a:t>We consider </a:t>
            </a:r>
            <a:r>
              <a:rPr lang="en-US" altLang="en-US" sz="2400" dirty="0">
                <a:solidFill>
                  <a:srgbClr val="333333"/>
                </a:solidFill>
                <a:latin typeface="Inconsolata"/>
              </a:rPr>
              <a:t>origin/develop</a:t>
            </a:r>
            <a:r>
              <a:rPr lang="en-US" altLang="en-US" sz="2400" dirty="0">
                <a:solidFill>
                  <a:srgbClr val="333333"/>
                </a:solidFill>
                <a:latin typeface="Titillium Web"/>
              </a:rPr>
              <a:t> to be the main branch where the source code of </a:t>
            </a:r>
            <a:r>
              <a:rPr lang="en-US" altLang="en-US" sz="2400" dirty="0">
                <a:solidFill>
                  <a:srgbClr val="333333"/>
                </a:solidFill>
                <a:latin typeface="Inconsolata"/>
              </a:rPr>
              <a:t>HEAD</a:t>
            </a:r>
            <a:r>
              <a:rPr lang="en-US" altLang="en-US" sz="2400" dirty="0">
                <a:solidFill>
                  <a:srgbClr val="333333"/>
                </a:solidFill>
                <a:latin typeface="Titillium Web"/>
              </a:rPr>
              <a:t> always reflects a state with the latest delivered development changes for the next release. Some would call this the “integration branch”. This is where any automatic nightly builds are built from.</a:t>
            </a:r>
          </a:p>
          <a:p>
            <a:pPr lvl="0" defTabSz="914400">
              <a:buClrTx/>
              <a:buSzTx/>
            </a:pPr>
            <a:endParaRPr lang="en-US" altLang="en-US" sz="2400" dirty="0"/>
          </a:p>
          <a:p>
            <a:pPr lvl="0" defTabSz="914400">
              <a:buClrTx/>
              <a:buSzTx/>
            </a:pPr>
            <a:r>
              <a:rPr lang="en-US" altLang="en-US" sz="2400" dirty="0">
                <a:solidFill>
                  <a:srgbClr val="333333"/>
                </a:solidFill>
                <a:latin typeface="Titillium Web"/>
              </a:rPr>
              <a:t>When the source code in the </a:t>
            </a:r>
            <a:r>
              <a:rPr lang="en-US" altLang="en-US" sz="2400" dirty="0">
                <a:solidFill>
                  <a:srgbClr val="333333"/>
                </a:solidFill>
                <a:latin typeface="Inconsolata"/>
              </a:rPr>
              <a:t>develop</a:t>
            </a:r>
            <a:r>
              <a:rPr lang="en-US" altLang="en-US" sz="2400" dirty="0">
                <a:solidFill>
                  <a:srgbClr val="333333"/>
                </a:solidFill>
                <a:latin typeface="Titillium Web"/>
              </a:rPr>
              <a:t> branch reaches a stable point and is ready to be released, all of the changes should be merged back into </a:t>
            </a:r>
            <a:r>
              <a:rPr lang="en-US" altLang="en-US" sz="2400" dirty="0">
                <a:solidFill>
                  <a:srgbClr val="333333"/>
                </a:solidFill>
                <a:latin typeface="Inconsolata"/>
              </a:rPr>
              <a:t>master</a:t>
            </a:r>
            <a:r>
              <a:rPr lang="en-US" altLang="en-US" sz="2400" dirty="0">
                <a:solidFill>
                  <a:srgbClr val="333333"/>
                </a:solidFill>
                <a:latin typeface="Titillium Web"/>
              </a:rPr>
              <a:t> somehow and then tagged with a release number. How this is done in detail will be discussed further on.</a:t>
            </a:r>
            <a:endParaRPr lang="en-US" altLang="en-US" sz="2400" dirty="0"/>
          </a:p>
          <a:p>
            <a:pPr lvl="0" defTabSz="914400">
              <a:buClrTx/>
              <a:buSzTx/>
            </a:pPr>
            <a:r>
              <a:rPr lang="en-US" altLang="en-US" sz="2400" dirty="0">
                <a:solidFill>
                  <a:srgbClr val="333333"/>
                </a:solidFill>
                <a:latin typeface="Titillium Web"/>
              </a:rPr>
              <a:t>Therefore, each time when changes are merged back into </a:t>
            </a:r>
            <a:r>
              <a:rPr lang="en-US" altLang="en-US" sz="2400" dirty="0">
                <a:solidFill>
                  <a:srgbClr val="333333"/>
                </a:solidFill>
                <a:latin typeface="Inconsolata"/>
              </a:rPr>
              <a:t>master</a:t>
            </a:r>
            <a:r>
              <a:rPr lang="en-US" altLang="en-US" sz="2400" dirty="0">
                <a:solidFill>
                  <a:srgbClr val="333333"/>
                </a:solidFill>
                <a:latin typeface="Titillium Web"/>
              </a:rPr>
              <a:t>, this is a new production release </a:t>
            </a:r>
            <a:r>
              <a:rPr lang="en-US" altLang="en-US" sz="2400" i="1" dirty="0">
                <a:solidFill>
                  <a:srgbClr val="333333"/>
                </a:solidFill>
                <a:latin typeface="Titillium Web"/>
              </a:rPr>
              <a:t>by definition</a:t>
            </a:r>
            <a:r>
              <a:rPr lang="en-US" altLang="en-US" sz="2400" dirty="0">
                <a:solidFill>
                  <a:srgbClr val="333333"/>
                </a:solidFill>
                <a:latin typeface="Titillium Web"/>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7344299"/>
      </p:ext>
    </p:extLst>
  </p:cSld>
  <p:clrMapOvr>
    <a:masterClrMapping/>
  </p:clrMapOvr>
  <p:transition spd="slow" advTm="19119">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nvie.com/img/main-branches@2x.png">
            <a:extLst>
              <a:ext uri="{FF2B5EF4-FFF2-40B4-BE49-F238E27FC236}">
                <a16:creationId xmlns:a16="http://schemas.microsoft.com/office/drawing/2014/main" id="{79487155-34C9-4997-8AF7-97F6E2AD6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0"/>
            <a:ext cx="8086018" cy="6492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387759"/>
      </p:ext>
    </p:extLst>
  </p:cSld>
  <p:clrMapOvr>
    <a:masterClrMapping/>
  </p:clrMapOvr>
  <p:transition spd="slow" advTm="11269">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a:bodyPr>
          <a:lstStyle/>
          <a:p>
            <a:r>
              <a:rPr lang="en-US" sz="3200" dirty="0">
                <a:solidFill>
                  <a:srgbClr val="002060"/>
                </a:solidFill>
              </a:rPr>
              <a:t>Supporting branches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702786" y="1796608"/>
            <a:ext cx="10786428" cy="22159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2400" dirty="0">
                <a:solidFill>
                  <a:srgbClr val="333333"/>
                </a:solidFill>
                <a:latin typeface="Titillium Web"/>
              </a:rPr>
              <a:t>Next to the main branches master and develop, our development model uses a variety of supporting branches to aid parallel development between team members, ease tracking of features, prepare for production releases and to assist in quickly fixing live production problems. Unlike the main branches, these branches always have a limited life time, since they will be removed eventually.</a:t>
            </a: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3787953198"/>
      </p:ext>
    </p:extLst>
  </p:cSld>
  <p:clrMapOvr>
    <a:masterClrMapping/>
  </p:clrMapOvr>
  <p:transition spd="slow" advTm="9878">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a:bodyPr>
          <a:lstStyle/>
          <a:p>
            <a:r>
              <a:rPr lang="en-US" sz="3200" dirty="0">
                <a:solidFill>
                  <a:srgbClr val="002060"/>
                </a:solidFill>
              </a:rPr>
              <a:t>Supporting branches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1898838"/>
            <a:ext cx="10898188" cy="40626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The different types of branches we may use are:</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00B050"/>
                </a:solidFill>
                <a:latin typeface="Titillium Web"/>
              </a:rPr>
              <a:t>Feature branches</a:t>
            </a:r>
          </a:p>
          <a:p>
            <a:pPr lvl="0" defTabSz="914400">
              <a:buClrTx/>
              <a:buSzTx/>
            </a:pPr>
            <a:r>
              <a:rPr lang="en-US" altLang="en-US" sz="2400" dirty="0">
                <a:solidFill>
                  <a:srgbClr val="00B050"/>
                </a:solidFill>
                <a:latin typeface="Titillium Web"/>
              </a:rPr>
              <a:t>Release branches</a:t>
            </a:r>
          </a:p>
          <a:p>
            <a:pPr lvl="0" defTabSz="914400">
              <a:buClrTx/>
              <a:buSzTx/>
            </a:pPr>
            <a:r>
              <a:rPr lang="en-US" altLang="en-US" sz="2400" dirty="0">
                <a:solidFill>
                  <a:srgbClr val="00B050"/>
                </a:solidFill>
                <a:latin typeface="Titillium Web"/>
              </a:rPr>
              <a:t>Hotfix branches</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Each of these branches have a specific purpose and are bound to strict rules as to which branches may be their originating branch and which branches must be their merge targets. We will walk through them in a minute.</a:t>
            </a: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1461479878"/>
      </p:ext>
    </p:extLst>
  </p:cSld>
  <p:clrMapOvr>
    <a:masterClrMapping/>
  </p:clrMapOvr>
  <p:transition spd="slow" advTm="11387">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fontScale="90000"/>
          </a:bodyPr>
          <a:lstStyle/>
          <a:p>
            <a:r>
              <a:rPr lang="en-US" sz="3200" dirty="0">
                <a:solidFill>
                  <a:srgbClr val="002060"/>
                </a:solidFill>
              </a:rPr>
              <a:t>Supporting branches : </a:t>
            </a:r>
            <a:r>
              <a:rPr lang="en-US" sz="3200" dirty="0">
                <a:solidFill>
                  <a:srgbClr val="002060"/>
                </a:solidFill>
                <a:highlight>
                  <a:srgbClr val="FFFF00"/>
                </a:highlight>
              </a:rPr>
              <a:t>Feature</a:t>
            </a:r>
            <a:r>
              <a:rPr lang="en-US" sz="3200" dirty="0">
                <a:solidFill>
                  <a:srgbClr val="002060"/>
                </a:solidFill>
              </a:rPr>
              <a:t> branch</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2083503"/>
            <a:ext cx="10898188"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May branch off from:</a:t>
            </a:r>
          </a:p>
          <a:p>
            <a:pPr lvl="0" defTabSz="914400">
              <a:buClrTx/>
              <a:buSzTx/>
            </a:pPr>
            <a:r>
              <a:rPr lang="en-US" altLang="en-US" sz="2400" dirty="0">
                <a:solidFill>
                  <a:srgbClr val="333333"/>
                </a:solidFill>
                <a:latin typeface="Titillium Web"/>
              </a:rPr>
              <a:t>develop</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Must merge back into:</a:t>
            </a:r>
          </a:p>
          <a:p>
            <a:pPr lvl="0" defTabSz="914400">
              <a:buClrTx/>
              <a:buSzTx/>
            </a:pPr>
            <a:r>
              <a:rPr lang="en-US" altLang="en-US" sz="2400" dirty="0">
                <a:solidFill>
                  <a:srgbClr val="333333"/>
                </a:solidFill>
                <a:latin typeface="Titillium Web"/>
              </a:rPr>
              <a:t>Develop</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Branch naming convention:</a:t>
            </a:r>
          </a:p>
          <a:p>
            <a:pPr lvl="0" defTabSz="914400">
              <a:buClrTx/>
              <a:buSzTx/>
            </a:pPr>
            <a:r>
              <a:rPr lang="en-US" altLang="en-US" sz="2400" dirty="0">
                <a:solidFill>
                  <a:srgbClr val="333333"/>
                </a:solidFill>
                <a:latin typeface="Titillium Web"/>
              </a:rPr>
              <a:t>anything except master, develop, release-*, or hotfix-*</a:t>
            </a: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3628946593"/>
      </p:ext>
    </p:extLst>
  </p:cSld>
  <p:clrMapOvr>
    <a:masterClrMapping/>
  </p:clrMapOvr>
  <p:transition spd="slow" advTm="11293">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fontScale="90000"/>
          </a:bodyPr>
          <a:lstStyle/>
          <a:p>
            <a:r>
              <a:rPr lang="en-US" sz="3200" dirty="0">
                <a:solidFill>
                  <a:srgbClr val="002060"/>
                </a:solidFill>
              </a:rPr>
              <a:t>Supporting branches : </a:t>
            </a:r>
            <a:r>
              <a:rPr lang="en-US" sz="3200" dirty="0">
                <a:solidFill>
                  <a:srgbClr val="002060"/>
                </a:solidFill>
                <a:highlight>
                  <a:srgbClr val="FFFF00"/>
                </a:highlight>
              </a:rPr>
              <a:t>Feature</a:t>
            </a:r>
            <a:r>
              <a:rPr lang="en-US" sz="3200" dirty="0">
                <a:solidFill>
                  <a:srgbClr val="002060"/>
                </a:solidFill>
              </a:rPr>
              <a:t> branch</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1898837"/>
            <a:ext cx="10898188" cy="40626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Feature branches (or sometimes called topic branches) are used to develop new features for the upcoming or a distant future release. When starting development of a feature, the target release in which this feature will be incorporated may well be unknown at that point. The essence of a feature branch is that it exists as long as the feature is in development, but will eventually be merged back into develop (to definitely add the new feature to the upcoming release) or discarded (in case of a disappointing experiment).</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Feature branches typically exist in developer repos only, not in origin.</a:t>
            </a: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930182211"/>
      </p:ext>
    </p:extLst>
  </p:cSld>
  <p:clrMapOvr>
    <a:masterClrMapping/>
  </p:clrMapOvr>
  <p:transition spd="slow" advTm="19994">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ttps://nvie.com/img/fb@2x.png">
            <a:extLst>
              <a:ext uri="{FF2B5EF4-FFF2-40B4-BE49-F238E27FC236}">
                <a16:creationId xmlns:a16="http://schemas.microsoft.com/office/drawing/2014/main" id="{56FEEBCC-79F9-4A46-A8F0-C66E63ADE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6720" y="28575"/>
            <a:ext cx="5435599" cy="680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678393"/>
      </p:ext>
    </p:extLst>
  </p:cSld>
  <p:clrMapOvr>
    <a:masterClrMapping/>
  </p:clrMapOvr>
  <p:transition spd="slow" advTm="5470">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fontScale="90000"/>
          </a:bodyPr>
          <a:lstStyle/>
          <a:p>
            <a:r>
              <a:rPr lang="en-US" sz="3200" dirty="0">
                <a:solidFill>
                  <a:srgbClr val="002060"/>
                </a:solidFill>
              </a:rPr>
              <a:t>Supporting branches : </a:t>
            </a:r>
            <a:r>
              <a:rPr lang="en-US" sz="3200" dirty="0">
                <a:solidFill>
                  <a:srgbClr val="002060"/>
                </a:solidFill>
                <a:highlight>
                  <a:srgbClr val="FFFF00"/>
                </a:highlight>
              </a:rPr>
              <a:t>Release</a:t>
            </a:r>
            <a:r>
              <a:rPr lang="en-US" sz="3200" dirty="0">
                <a:solidFill>
                  <a:srgbClr val="002060"/>
                </a:solidFill>
              </a:rPr>
              <a:t> branch</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2083503"/>
            <a:ext cx="10898188"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May branch off from:</a:t>
            </a:r>
          </a:p>
          <a:p>
            <a:pPr lvl="0" defTabSz="914400">
              <a:buClrTx/>
              <a:buSzTx/>
            </a:pPr>
            <a:r>
              <a:rPr lang="en-US" altLang="en-US" sz="2400" dirty="0">
                <a:solidFill>
                  <a:srgbClr val="333333"/>
                </a:solidFill>
                <a:latin typeface="Titillium Web"/>
              </a:rPr>
              <a:t>Develop</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Must merge back into:</a:t>
            </a:r>
          </a:p>
          <a:p>
            <a:pPr lvl="0" defTabSz="914400">
              <a:buClrTx/>
              <a:buSzTx/>
            </a:pPr>
            <a:r>
              <a:rPr lang="en-US" altLang="en-US" sz="2400" dirty="0">
                <a:solidFill>
                  <a:srgbClr val="333333"/>
                </a:solidFill>
                <a:latin typeface="Titillium Web"/>
              </a:rPr>
              <a:t>develop and master</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Branch naming convention:</a:t>
            </a:r>
          </a:p>
          <a:p>
            <a:pPr lvl="0" defTabSz="914400">
              <a:buClrTx/>
              <a:buSzTx/>
            </a:pPr>
            <a:r>
              <a:rPr lang="en-US" altLang="en-US" sz="2400" dirty="0">
                <a:solidFill>
                  <a:srgbClr val="333333"/>
                </a:solidFill>
                <a:latin typeface="Titillium Web"/>
              </a:rPr>
              <a:t>release-*</a:t>
            </a: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3397682012"/>
      </p:ext>
    </p:extLst>
  </p:cSld>
  <p:clrMapOvr>
    <a:masterClrMapping/>
  </p:clrMapOvr>
  <p:transition spd="slow" advTm="7588">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fontScale="90000"/>
          </a:bodyPr>
          <a:lstStyle/>
          <a:p>
            <a:r>
              <a:rPr lang="en-US" sz="3200" dirty="0">
                <a:solidFill>
                  <a:srgbClr val="002060"/>
                </a:solidFill>
              </a:rPr>
              <a:t>Supporting branches :  </a:t>
            </a:r>
            <a:r>
              <a:rPr lang="en-US" sz="3200" dirty="0">
                <a:solidFill>
                  <a:srgbClr val="002060"/>
                </a:solidFill>
                <a:highlight>
                  <a:srgbClr val="FFFF00"/>
                </a:highlight>
              </a:rPr>
              <a:t>Release</a:t>
            </a:r>
            <a:r>
              <a:rPr lang="en-US" sz="3200" dirty="0">
                <a:solidFill>
                  <a:srgbClr val="002060"/>
                </a:solidFill>
              </a:rPr>
              <a:t> branch</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2637501"/>
            <a:ext cx="10898188" cy="25853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Release branches support preparation of a new production release. They allow for last-minute dotting of i’s and crossing t’s. Furthermore, they allow for minor bug fixes and preparing meta-data for a release (version number, build dates, etc.). By doing all of this work on a release branch, the develop branch is cleared to receive features for the next big release.</a:t>
            </a: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3733747830"/>
      </p:ext>
    </p:extLst>
  </p:cSld>
  <p:clrMapOvr>
    <a:masterClrMapping/>
  </p:clrMapOvr>
  <p:transition spd="slow" advTm="12503">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fontScale="90000"/>
          </a:bodyPr>
          <a:lstStyle/>
          <a:p>
            <a:r>
              <a:rPr lang="en-US" sz="3200" dirty="0">
                <a:solidFill>
                  <a:srgbClr val="002060"/>
                </a:solidFill>
              </a:rPr>
              <a:t>Supporting branches : </a:t>
            </a:r>
            <a:r>
              <a:rPr lang="en-US" sz="3200" dirty="0">
                <a:solidFill>
                  <a:srgbClr val="002060"/>
                </a:solidFill>
                <a:highlight>
                  <a:srgbClr val="FFFF00"/>
                </a:highlight>
              </a:rPr>
              <a:t>Hotfix</a:t>
            </a:r>
            <a:r>
              <a:rPr lang="en-US" sz="3200" dirty="0">
                <a:solidFill>
                  <a:srgbClr val="002060"/>
                </a:solidFill>
              </a:rPr>
              <a:t> branch</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2083503"/>
            <a:ext cx="10898188"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May branch off from:</a:t>
            </a:r>
          </a:p>
          <a:p>
            <a:pPr lvl="0" defTabSz="914400">
              <a:buClrTx/>
              <a:buSzTx/>
            </a:pPr>
            <a:r>
              <a:rPr lang="en-US" altLang="en-US" sz="2400" dirty="0">
                <a:solidFill>
                  <a:srgbClr val="333333"/>
                </a:solidFill>
                <a:latin typeface="Titillium Web"/>
              </a:rPr>
              <a:t>master</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Must merge back into:</a:t>
            </a:r>
          </a:p>
          <a:p>
            <a:pPr lvl="0" defTabSz="914400">
              <a:buClrTx/>
              <a:buSzTx/>
            </a:pPr>
            <a:r>
              <a:rPr lang="en-US" altLang="en-US" sz="2400" dirty="0">
                <a:solidFill>
                  <a:srgbClr val="333333"/>
                </a:solidFill>
                <a:latin typeface="Titillium Web"/>
              </a:rPr>
              <a:t>develop and master</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Branch naming convention:</a:t>
            </a:r>
          </a:p>
          <a:p>
            <a:pPr lvl="0" defTabSz="914400">
              <a:buClrTx/>
              <a:buSzTx/>
            </a:pPr>
            <a:r>
              <a:rPr lang="en-US" altLang="en-US" sz="2400" dirty="0">
                <a:solidFill>
                  <a:srgbClr val="333333"/>
                </a:solidFill>
                <a:latin typeface="Titillium Web"/>
              </a:rPr>
              <a:t>hotfix-*</a:t>
            </a: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2913884505"/>
      </p:ext>
    </p:extLst>
  </p:cSld>
  <p:clrMapOvr>
    <a:masterClrMapping/>
  </p:clrMapOvr>
  <p:transition spd="slow" advTm="10055">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fontScale="90000"/>
          </a:bodyPr>
          <a:lstStyle/>
          <a:p>
            <a:r>
              <a:rPr lang="en-US" sz="3200" dirty="0">
                <a:solidFill>
                  <a:srgbClr val="002060"/>
                </a:solidFill>
              </a:rPr>
              <a:t>Supporting branches : </a:t>
            </a:r>
            <a:r>
              <a:rPr lang="en-US" sz="3200" dirty="0">
                <a:solidFill>
                  <a:srgbClr val="002060"/>
                </a:solidFill>
                <a:highlight>
                  <a:srgbClr val="FFFF00"/>
                </a:highlight>
              </a:rPr>
              <a:t>Hotfix</a:t>
            </a:r>
            <a:r>
              <a:rPr lang="en-US" sz="3200" dirty="0">
                <a:solidFill>
                  <a:srgbClr val="002060"/>
                </a:solidFill>
              </a:rPr>
              <a:t> branch</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2452835"/>
            <a:ext cx="10898188" cy="29546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Hotfix branches are very much like release branches in that they are also meant to prepare for a new production release, albeit unplanned. They arise from the necessity to act immediately upon an undesired state of a live production version. When a critical bug in a production version must be resolved immediately, a hotfix branch may be branched off from the corresponding tag on the master branch that marks the production version.</a:t>
            </a: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4244984759"/>
      </p:ext>
    </p:extLst>
  </p:cSld>
  <p:clrMapOvr>
    <a:masterClrMapping/>
  </p:clrMapOvr>
  <p:transition spd="slow" advTm="15491">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https://nvie.com/img/hotfix-branches@2x.png">
            <a:extLst>
              <a:ext uri="{FF2B5EF4-FFF2-40B4-BE49-F238E27FC236}">
                <a16:creationId xmlns:a16="http://schemas.microsoft.com/office/drawing/2014/main" id="{807D11E7-F028-4F9E-B825-B23A807634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6640" y="0"/>
            <a:ext cx="631253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268078"/>
      </p:ext>
    </p:extLst>
  </p:cSld>
  <p:clrMapOvr>
    <a:masterClrMapping/>
  </p:clrMapOvr>
  <p:transition spd="slow" advTm="15927">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DD2F-07FE-4B96-8A21-7D5F7BD3CB58}"/>
              </a:ext>
            </a:extLst>
          </p:cNvPr>
          <p:cNvSpPr>
            <a:spLocks noGrp="1"/>
          </p:cNvSpPr>
          <p:nvPr>
            <p:ph type="ctrTitle"/>
          </p:nvPr>
        </p:nvSpPr>
        <p:spPr/>
        <p:txBody>
          <a:bodyPr/>
          <a:lstStyle/>
          <a:p>
            <a:r>
              <a:rPr lang="en-US" dirty="0" err="1">
                <a:hlinkClick r:id="rId2"/>
              </a:rPr>
              <a:t>Gitflow</a:t>
            </a:r>
            <a:r>
              <a:rPr lang="en-US" dirty="0">
                <a:hlinkClick r:id="rId2"/>
              </a:rPr>
              <a:t> /Driessen</a:t>
            </a:r>
            <a:r>
              <a:rPr lang="en-US" dirty="0"/>
              <a:t> Model</a:t>
            </a:r>
          </a:p>
        </p:txBody>
      </p:sp>
      <p:sp>
        <p:nvSpPr>
          <p:cNvPr id="3" name="Subtitle 2">
            <a:extLst>
              <a:ext uri="{FF2B5EF4-FFF2-40B4-BE49-F238E27FC236}">
                <a16:creationId xmlns:a16="http://schemas.microsoft.com/office/drawing/2014/main" id="{C0E3D568-1658-42FB-9715-A84BF38B7732}"/>
              </a:ext>
            </a:extLst>
          </p:cNvPr>
          <p:cNvSpPr>
            <a:spLocks noGrp="1"/>
          </p:cNvSpPr>
          <p:nvPr>
            <p:ph type="subTitle" idx="1"/>
          </p:nvPr>
        </p:nvSpPr>
        <p:spPr/>
        <p:txBody>
          <a:bodyPr>
            <a:normAutofit/>
          </a:bodyPr>
          <a:lstStyle/>
          <a:p>
            <a:r>
              <a:rPr lang="en-US" sz="2800" dirty="0"/>
              <a:t>How it Works</a:t>
            </a:r>
          </a:p>
        </p:txBody>
      </p:sp>
    </p:spTree>
    <p:extLst>
      <p:ext uri="{BB962C8B-B14F-4D97-AF65-F5344CB8AC3E}">
        <p14:creationId xmlns:p14="http://schemas.microsoft.com/office/powerpoint/2010/main" val="876393805"/>
      </p:ext>
    </p:extLst>
  </p:cSld>
  <p:clrMapOvr>
    <a:masterClrMapping/>
  </p:clrMapOvr>
  <p:transition spd="slow" advTm="5880">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723969" y="278294"/>
            <a:ext cx="8001000" cy="695961"/>
          </a:xfrm>
        </p:spPr>
        <p:txBody>
          <a:bodyPr>
            <a:normAutofit/>
          </a:bodyPr>
          <a:lstStyle/>
          <a:p>
            <a:r>
              <a:rPr lang="en-US" sz="2400" dirty="0"/>
              <a:t>GITFLOW: How it works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06353" y="974255"/>
            <a:ext cx="10898188"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2000" dirty="0">
                <a:solidFill>
                  <a:srgbClr val="333333"/>
                </a:solidFill>
                <a:latin typeface="Titillium Web"/>
              </a:rPr>
              <a:t>New development (new features, non-emergency bug fixes) are built in feature branches:</a:t>
            </a:r>
          </a:p>
        </p:txBody>
      </p:sp>
      <p:pic>
        <p:nvPicPr>
          <p:cNvPr id="1028" name="Picture 4" descr="GitFlow feature branches">
            <a:extLst>
              <a:ext uri="{FF2B5EF4-FFF2-40B4-BE49-F238E27FC236}">
                <a16:creationId xmlns:a16="http://schemas.microsoft.com/office/drawing/2014/main" id="{C5479BAB-4E84-4FAE-AE9F-3A50C9AEC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730" y="1401417"/>
            <a:ext cx="9799983" cy="547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094028"/>
      </p:ext>
    </p:extLst>
  </p:cSld>
  <p:clrMapOvr>
    <a:masterClrMapping/>
  </p:clrMapOvr>
  <p:transition spd="slow" advTm="16268">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723969" y="278294"/>
            <a:ext cx="8001000" cy="695961"/>
          </a:xfrm>
        </p:spPr>
        <p:txBody>
          <a:bodyPr>
            <a:normAutofit/>
          </a:bodyPr>
          <a:lstStyle/>
          <a:p>
            <a:r>
              <a:rPr lang="en-US" sz="2400" dirty="0"/>
              <a:t>GITFLOW: How it works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723969" y="1127183"/>
            <a:ext cx="10898188"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2000" dirty="0">
                <a:solidFill>
                  <a:srgbClr val="333333"/>
                </a:solidFill>
                <a:latin typeface="Titillium Web"/>
              </a:rPr>
              <a:t>Feature branches are branched off of the develop branch, and finished features and fixes are merged back into the develop branch when they’re ready for release:</a:t>
            </a:r>
          </a:p>
        </p:txBody>
      </p:sp>
      <p:pic>
        <p:nvPicPr>
          <p:cNvPr id="1028" name="Picture 4" descr="GitFlow feature branches">
            <a:extLst>
              <a:ext uri="{FF2B5EF4-FFF2-40B4-BE49-F238E27FC236}">
                <a16:creationId xmlns:a16="http://schemas.microsoft.com/office/drawing/2014/main" id="{C5479BAB-4E84-4FAE-AE9F-3A50C9AEC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895665"/>
            <a:ext cx="7951304" cy="4958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3280129"/>
      </p:ext>
    </p:extLst>
  </p:cSld>
  <p:clrMapOvr>
    <a:masterClrMapping/>
  </p:clrMapOvr>
  <p:transition spd="slow" advTm="16417">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723969" y="278294"/>
            <a:ext cx="8001000" cy="695961"/>
          </a:xfrm>
        </p:spPr>
        <p:txBody>
          <a:bodyPr>
            <a:normAutofit/>
          </a:bodyPr>
          <a:lstStyle/>
          <a:p>
            <a:r>
              <a:rPr lang="en-US" sz="2400" dirty="0"/>
              <a:t>GITFLOW: How it works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06353" y="1053287"/>
            <a:ext cx="10898188"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2000" dirty="0">
                <a:solidFill>
                  <a:srgbClr val="333333"/>
                </a:solidFill>
                <a:latin typeface="Titillium Web"/>
              </a:rPr>
              <a:t>When it is time to make a release, a release branch is created off of develop:</a:t>
            </a:r>
          </a:p>
        </p:txBody>
      </p:sp>
      <p:pic>
        <p:nvPicPr>
          <p:cNvPr id="2050" name="Picture 2" descr="GitFlow release branch">
            <a:extLst>
              <a:ext uri="{FF2B5EF4-FFF2-40B4-BE49-F238E27FC236}">
                <a16:creationId xmlns:a16="http://schemas.microsoft.com/office/drawing/2014/main" id="{B1108D8F-90E1-49E7-96B8-3D069F5AA1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7338" y="1440096"/>
            <a:ext cx="8010939" cy="5413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9820"/>
      </p:ext>
    </p:extLst>
  </p:cSld>
  <p:clrMapOvr>
    <a:masterClrMapping/>
  </p:clrMapOvr>
  <p:transition spd="slow" advTm="22769">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68440" y="226137"/>
            <a:ext cx="8001000" cy="417664"/>
          </a:xfrm>
        </p:spPr>
        <p:txBody>
          <a:bodyPr>
            <a:normAutofit fontScale="90000"/>
          </a:bodyPr>
          <a:lstStyle/>
          <a:p>
            <a:r>
              <a:rPr lang="en-US" sz="2400" dirty="0"/>
              <a:t>GITFLOW: How it works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668440" y="567890"/>
            <a:ext cx="10898188" cy="1477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1600" dirty="0">
                <a:solidFill>
                  <a:srgbClr val="333333"/>
                </a:solidFill>
                <a:latin typeface="Titillium Web"/>
              </a:rPr>
              <a:t>The code in the release branch is deployed onto a suitable test environment, tested, and any problems are fixed directly in the release branch. This deploy -&gt; test -&gt; fix -&gt; redeploy -&gt; retest cycle continues until you’re happy that the release is good enough to release to customers.</a:t>
            </a:r>
          </a:p>
          <a:p>
            <a:pPr lvl="0" defTabSz="914400">
              <a:buClrTx/>
              <a:buSzTx/>
            </a:pPr>
            <a:endParaRPr lang="en-US" altLang="en-US" sz="1600" dirty="0">
              <a:solidFill>
                <a:srgbClr val="333333"/>
              </a:solidFill>
              <a:latin typeface="Titillium Web"/>
            </a:endParaRPr>
          </a:p>
          <a:p>
            <a:pPr lvl="0" defTabSz="914400">
              <a:buClrTx/>
              <a:buSzTx/>
            </a:pPr>
            <a:r>
              <a:rPr lang="en-US" altLang="en-US" sz="1600" dirty="0">
                <a:solidFill>
                  <a:srgbClr val="333333"/>
                </a:solidFill>
                <a:latin typeface="Titillium Web"/>
              </a:rPr>
              <a:t>When the release is finished, the release branch is merged into master and into develop too, to make sure that any changes made in the release branch aren’t accidentally lost by new development.</a:t>
            </a:r>
          </a:p>
        </p:txBody>
      </p:sp>
      <p:pic>
        <p:nvPicPr>
          <p:cNvPr id="4098" name="Picture 2" descr="GitFlow master branch">
            <a:extLst>
              <a:ext uri="{FF2B5EF4-FFF2-40B4-BE49-F238E27FC236}">
                <a16:creationId xmlns:a16="http://schemas.microsoft.com/office/drawing/2014/main" id="{D652961F-F687-4598-BB63-B49F4666D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0930" y="2246243"/>
            <a:ext cx="9273209" cy="4637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945093"/>
      </p:ext>
    </p:extLst>
  </p:cSld>
  <p:clrMapOvr>
    <a:masterClrMapping/>
  </p:clrMapOvr>
  <p:transition spd="slow" advTm="27616">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68440" y="226137"/>
            <a:ext cx="8001000" cy="417664"/>
          </a:xfrm>
        </p:spPr>
        <p:txBody>
          <a:bodyPr>
            <a:normAutofit fontScale="90000"/>
          </a:bodyPr>
          <a:lstStyle/>
          <a:p>
            <a:r>
              <a:rPr lang="en-US" sz="2400" dirty="0"/>
              <a:t>GITFLOW: How it works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668440" y="1060333"/>
            <a:ext cx="10898188" cy="4924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1600" dirty="0">
                <a:solidFill>
                  <a:srgbClr val="333333"/>
                </a:solidFill>
                <a:latin typeface="Titillium Web"/>
              </a:rPr>
              <a:t>The master branch tracks released code only. The only commits to master are merges from release branches and hotfix branches.</a:t>
            </a:r>
          </a:p>
          <a:p>
            <a:pPr lvl="0" defTabSz="914400">
              <a:buClrTx/>
              <a:buSzTx/>
            </a:pPr>
            <a:r>
              <a:rPr lang="en-US" altLang="en-US" sz="1600" dirty="0">
                <a:solidFill>
                  <a:srgbClr val="333333"/>
                </a:solidFill>
                <a:latin typeface="Titillium Web"/>
              </a:rPr>
              <a:t>Hotfix branches are used to create emergency fixes:</a:t>
            </a:r>
          </a:p>
        </p:txBody>
      </p:sp>
      <p:pic>
        <p:nvPicPr>
          <p:cNvPr id="5122" name="Picture 2" descr="GitFlow hotfix branch">
            <a:extLst>
              <a:ext uri="{FF2B5EF4-FFF2-40B4-BE49-F238E27FC236}">
                <a16:creationId xmlns:a16="http://schemas.microsoft.com/office/drawing/2014/main" id="{63EC6CAD-AD77-4DBF-B9B0-CF62005131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130" y="1669774"/>
            <a:ext cx="10624931" cy="5173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277583"/>
      </p:ext>
    </p:extLst>
  </p:cSld>
  <p:clrMapOvr>
    <a:masterClrMapping/>
  </p:clrMapOvr>
  <p:transition spd="slow" advTm="46486">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nvie.com/img/git-model@2x.png">
            <a:extLst>
              <a:ext uri="{FF2B5EF4-FFF2-40B4-BE49-F238E27FC236}">
                <a16:creationId xmlns:a16="http://schemas.microsoft.com/office/drawing/2014/main" id="{DF8D3CAA-658B-43C9-B8FF-5DC2761424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 y="566530"/>
            <a:ext cx="10789920" cy="629147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0">
            <a:extLst>
              <a:ext uri="{FF2B5EF4-FFF2-40B4-BE49-F238E27FC236}">
                <a16:creationId xmlns:a16="http://schemas.microsoft.com/office/drawing/2014/main" id="{3EFBC52D-BBB9-495F-8946-83ED2CE9942C}"/>
              </a:ext>
            </a:extLst>
          </p:cNvPr>
          <p:cNvSpPr txBox="1">
            <a:spLocks/>
          </p:cNvSpPr>
          <p:nvPr/>
        </p:nvSpPr>
        <p:spPr>
          <a:xfrm>
            <a:off x="668440" y="226137"/>
            <a:ext cx="8001000" cy="417664"/>
          </a:xfrm>
          <a:prstGeom prst="rect">
            <a:avLst/>
          </a:prstGeom>
          <a:effectLst/>
        </p:spPr>
        <p:txBody>
          <a:bodyPr vert="horz" lIns="91440" tIns="45720" rIns="91440" bIns="45720" rtlCol="0" anchor="ctr">
            <a:normAutofit fontScale="90000"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GITFLOW: Complete MODEL DIAGRAM </a:t>
            </a:r>
          </a:p>
        </p:txBody>
      </p:sp>
    </p:spTree>
    <p:extLst>
      <p:ext uri="{BB962C8B-B14F-4D97-AF65-F5344CB8AC3E}">
        <p14:creationId xmlns:p14="http://schemas.microsoft.com/office/powerpoint/2010/main" val="3522530242"/>
      </p:ext>
    </p:extLst>
  </p:cSld>
  <p:clrMapOvr>
    <a:masterClrMapping/>
  </p:clrMapOvr>
  <p:transition spd="slow" advTm="45770">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a:bodyPr>
          <a:lstStyle/>
          <a:p>
            <a:r>
              <a:rPr lang="en-US" sz="3200" dirty="0">
                <a:solidFill>
                  <a:srgbClr val="002060"/>
                </a:solidFill>
              </a:rPr>
              <a:t>Software Requirements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1344840"/>
            <a:ext cx="10898188"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Bitbucket is used for hosting Mercurial and Git Repositories.</a:t>
            </a:r>
          </a:p>
          <a:p>
            <a:pPr lvl="0" defTabSz="914400">
              <a:buClrTx/>
              <a:buSzTx/>
            </a:pPr>
            <a:r>
              <a:rPr lang="en-US" altLang="en-US" sz="2400" dirty="0">
                <a:solidFill>
                  <a:srgbClr val="333333"/>
                </a:solidFill>
                <a:latin typeface="Titillium Web"/>
              </a:rPr>
              <a:t>An account in Bitbucket repository  with required access is needed to access the repository.</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Following Tools has built in support for </a:t>
            </a:r>
            <a:r>
              <a:rPr lang="en-US" altLang="en-US" sz="2400" dirty="0" err="1">
                <a:solidFill>
                  <a:srgbClr val="333333"/>
                </a:solidFill>
                <a:latin typeface="Titillium Web"/>
              </a:rPr>
              <a:t>GitFlow</a:t>
            </a:r>
            <a:r>
              <a:rPr lang="en-US" altLang="en-US" sz="2400" dirty="0">
                <a:solidFill>
                  <a:srgbClr val="333333"/>
                </a:solidFill>
                <a:latin typeface="Titillium Web"/>
              </a:rPr>
              <a:t>.  Remote repository can be cloned using these tools. Built in </a:t>
            </a:r>
            <a:r>
              <a:rPr lang="en-US" altLang="en-US" sz="2400" dirty="0" err="1">
                <a:solidFill>
                  <a:srgbClr val="333333"/>
                </a:solidFill>
                <a:latin typeface="Titillium Web"/>
              </a:rPr>
              <a:t>Gitflow</a:t>
            </a:r>
            <a:r>
              <a:rPr lang="en-US" altLang="en-US" sz="2400" dirty="0">
                <a:solidFill>
                  <a:srgbClr val="333333"/>
                </a:solidFill>
                <a:latin typeface="Titillium Web"/>
              </a:rPr>
              <a:t> is used to implement </a:t>
            </a:r>
            <a:r>
              <a:rPr lang="en-US" altLang="en-US" sz="2400" dirty="0" err="1">
                <a:solidFill>
                  <a:srgbClr val="333333"/>
                </a:solidFill>
                <a:latin typeface="Titillium Web"/>
              </a:rPr>
              <a:t>Gitflow</a:t>
            </a:r>
            <a:r>
              <a:rPr lang="en-US" altLang="en-US" sz="2400" dirty="0">
                <a:solidFill>
                  <a:srgbClr val="333333"/>
                </a:solidFill>
                <a:latin typeface="Titillium Web"/>
              </a:rPr>
              <a:t> Branching Model.</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SourceTree : For Windows</a:t>
            </a:r>
          </a:p>
          <a:p>
            <a:pPr lvl="0" defTabSz="914400">
              <a:buClrTx/>
              <a:buSzTx/>
            </a:pPr>
            <a:r>
              <a:rPr lang="en-US" altLang="en-US" sz="2400" dirty="0" err="1">
                <a:solidFill>
                  <a:srgbClr val="333333"/>
                </a:solidFill>
                <a:latin typeface="Titillium Web"/>
              </a:rPr>
              <a:t>SmartGit</a:t>
            </a:r>
            <a:r>
              <a:rPr lang="en-US" altLang="en-US" sz="2400" dirty="0">
                <a:solidFill>
                  <a:srgbClr val="333333"/>
                </a:solidFill>
                <a:latin typeface="Titillium Web"/>
              </a:rPr>
              <a:t> : For Linux</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HG, Git command line utilities may be useful too.</a:t>
            </a:r>
          </a:p>
          <a:p>
            <a:pPr lvl="0" defTabSz="914400">
              <a:buClrTx/>
              <a:buSzTx/>
            </a:pPr>
            <a:endParaRPr lang="en-US" altLang="en-US" sz="2400" dirty="0">
              <a:solidFill>
                <a:srgbClr val="333333"/>
              </a:solidFill>
              <a:latin typeface="Titillium Web"/>
            </a:endParaRP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745781801"/>
      </p:ext>
    </p:extLst>
  </p:cSld>
  <p:clrMapOvr>
    <a:masterClrMapping/>
  </p:clrMapOvr>
  <p:transition spd="slow" advTm="20180">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0">
            <a:extLst>
              <a:ext uri="{FF2B5EF4-FFF2-40B4-BE49-F238E27FC236}">
                <a16:creationId xmlns:a16="http://schemas.microsoft.com/office/drawing/2014/main" id="{3EFBC52D-BBB9-495F-8946-83ED2CE9942C}"/>
              </a:ext>
            </a:extLst>
          </p:cNvPr>
          <p:cNvSpPr txBox="1">
            <a:spLocks/>
          </p:cNvSpPr>
          <p:nvPr/>
        </p:nvSpPr>
        <p:spPr>
          <a:xfrm>
            <a:off x="668440" y="226137"/>
            <a:ext cx="8001000" cy="417664"/>
          </a:xfrm>
          <a:prstGeom prst="rect">
            <a:avLst/>
          </a:prstGeom>
          <a:effectLst/>
        </p:spPr>
        <p:txBody>
          <a:bodyPr vert="horz" lIns="91440" tIns="45720" rIns="91440" bIns="45720" rtlCol="0" anchor="ctr">
            <a:normAutofit fontScale="90000"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Source Tree </a:t>
            </a:r>
          </a:p>
        </p:txBody>
      </p:sp>
      <p:pic>
        <p:nvPicPr>
          <p:cNvPr id="4" name="Picture 3">
            <a:extLst>
              <a:ext uri="{FF2B5EF4-FFF2-40B4-BE49-F238E27FC236}">
                <a16:creationId xmlns:a16="http://schemas.microsoft.com/office/drawing/2014/main" id="{099CE11F-1702-4774-93AC-114CEC876ABC}"/>
              </a:ext>
            </a:extLst>
          </p:cNvPr>
          <p:cNvPicPr>
            <a:picLocks noChangeAspect="1"/>
          </p:cNvPicPr>
          <p:nvPr/>
        </p:nvPicPr>
        <p:blipFill>
          <a:blip r:embed="rId2"/>
          <a:stretch>
            <a:fillRect/>
          </a:stretch>
        </p:blipFill>
        <p:spPr>
          <a:xfrm>
            <a:off x="0" y="643800"/>
            <a:ext cx="12192000" cy="6214199"/>
          </a:xfrm>
          <a:prstGeom prst="rect">
            <a:avLst/>
          </a:prstGeom>
        </p:spPr>
      </p:pic>
    </p:spTree>
    <p:extLst>
      <p:ext uri="{BB962C8B-B14F-4D97-AF65-F5344CB8AC3E}">
        <p14:creationId xmlns:p14="http://schemas.microsoft.com/office/powerpoint/2010/main" val="1208287409"/>
      </p:ext>
    </p:extLst>
  </p:cSld>
  <p:clrMapOvr>
    <a:masterClrMapping/>
  </p:clrMapOvr>
  <p:transition spd="slow" advTm="15963">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0">
            <a:extLst>
              <a:ext uri="{FF2B5EF4-FFF2-40B4-BE49-F238E27FC236}">
                <a16:creationId xmlns:a16="http://schemas.microsoft.com/office/drawing/2014/main" id="{3EFBC52D-BBB9-495F-8946-83ED2CE9942C}"/>
              </a:ext>
            </a:extLst>
          </p:cNvPr>
          <p:cNvSpPr txBox="1">
            <a:spLocks/>
          </p:cNvSpPr>
          <p:nvPr/>
        </p:nvSpPr>
        <p:spPr>
          <a:xfrm>
            <a:off x="668440" y="226137"/>
            <a:ext cx="8001000" cy="417664"/>
          </a:xfrm>
          <a:prstGeom prst="rect">
            <a:avLst/>
          </a:prstGeom>
          <a:effectLst/>
        </p:spPr>
        <p:txBody>
          <a:bodyPr vert="horz" lIns="91440" tIns="45720" rIns="91440" bIns="45720" rtlCol="0" anchor="ctr">
            <a:normAutofit fontScale="90000"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Source Tree </a:t>
            </a:r>
          </a:p>
        </p:txBody>
      </p:sp>
      <p:cxnSp>
        <p:nvCxnSpPr>
          <p:cNvPr id="9" name="Straight Arrow Connector 8">
            <a:extLst>
              <a:ext uri="{FF2B5EF4-FFF2-40B4-BE49-F238E27FC236}">
                <a16:creationId xmlns:a16="http://schemas.microsoft.com/office/drawing/2014/main" id="{EC840919-36F7-4310-809D-CD6D54FC5C88}"/>
              </a:ext>
            </a:extLst>
          </p:cNvPr>
          <p:cNvCxnSpPr/>
          <p:nvPr/>
        </p:nvCxnSpPr>
        <p:spPr>
          <a:xfrm>
            <a:off x="9163878" y="1311965"/>
            <a:ext cx="3081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BC7774B-9F06-4CDF-A5EA-E009623F5EAD}"/>
              </a:ext>
            </a:extLst>
          </p:cNvPr>
          <p:cNvPicPr>
            <a:picLocks noChangeAspect="1"/>
          </p:cNvPicPr>
          <p:nvPr/>
        </p:nvPicPr>
        <p:blipFill>
          <a:blip r:embed="rId2"/>
          <a:stretch>
            <a:fillRect/>
          </a:stretch>
        </p:blipFill>
        <p:spPr>
          <a:xfrm>
            <a:off x="0" y="643801"/>
            <a:ext cx="12192000" cy="6234077"/>
          </a:xfrm>
          <a:prstGeom prst="rect">
            <a:avLst/>
          </a:prstGeom>
        </p:spPr>
      </p:pic>
      <p:sp>
        <p:nvSpPr>
          <p:cNvPr id="6" name="Oval 5">
            <a:extLst>
              <a:ext uri="{FF2B5EF4-FFF2-40B4-BE49-F238E27FC236}">
                <a16:creationId xmlns:a16="http://schemas.microsoft.com/office/drawing/2014/main" id="{E479B276-684D-4488-8EB2-9EBB17BB42D5}"/>
              </a:ext>
            </a:extLst>
          </p:cNvPr>
          <p:cNvSpPr/>
          <p:nvPr/>
        </p:nvSpPr>
        <p:spPr>
          <a:xfrm>
            <a:off x="8162544" y="1061465"/>
            <a:ext cx="1013791" cy="6559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err="1">
                <a:solidFill>
                  <a:schemeClr val="bg1"/>
                </a:solidFill>
                <a:highlight>
                  <a:srgbClr val="FFFF00"/>
                </a:highlight>
              </a:rPr>
              <a:t>GitFlow</a:t>
            </a:r>
            <a:r>
              <a:rPr lang="en-US" sz="1100" dirty="0">
                <a:solidFill>
                  <a:schemeClr val="bg1"/>
                </a:solidFill>
                <a:highlight>
                  <a:srgbClr val="FFFF00"/>
                </a:highlight>
              </a:rPr>
              <a:t> Icon</a:t>
            </a:r>
          </a:p>
        </p:txBody>
      </p:sp>
      <p:cxnSp>
        <p:nvCxnSpPr>
          <p:cNvPr id="5" name="Straight Arrow Connector 4">
            <a:extLst>
              <a:ext uri="{FF2B5EF4-FFF2-40B4-BE49-F238E27FC236}">
                <a16:creationId xmlns:a16="http://schemas.microsoft.com/office/drawing/2014/main" id="{4D82E44B-92EE-4C46-A913-51F8BC160D48}"/>
              </a:ext>
            </a:extLst>
          </p:cNvPr>
          <p:cNvCxnSpPr/>
          <p:nvPr/>
        </p:nvCxnSpPr>
        <p:spPr>
          <a:xfrm>
            <a:off x="9163878" y="1411357"/>
            <a:ext cx="3081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748913"/>
      </p:ext>
    </p:extLst>
  </p:cSld>
  <p:clrMapOvr>
    <a:masterClrMapping/>
  </p:clrMapOvr>
  <p:transition spd="slow" advTm="26196">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816188" y="131975"/>
            <a:ext cx="8001000" cy="387766"/>
          </a:xfrm>
        </p:spPr>
        <p:txBody>
          <a:bodyPr>
            <a:normAutofit fontScale="90000"/>
          </a:bodyPr>
          <a:lstStyle/>
          <a:p>
            <a:r>
              <a:rPr lang="en-US" sz="2400" dirty="0">
                <a:solidFill>
                  <a:srgbClr val="002060"/>
                </a:solidFill>
              </a:rPr>
              <a:t>Git Tips –  basic operations from command line</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646906" y="1231978"/>
            <a:ext cx="10898188"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2400" dirty="0" err="1">
                <a:solidFill>
                  <a:srgbClr val="333333"/>
                </a:solidFill>
                <a:latin typeface="Titillium Web"/>
              </a:rPr>
              <a:t>Goto</a:t>
            </a:r>
            <a:r>
              <a:rPr lang="en-US" altLang="en-US" sz="2400" dirty="0">
                <a:solidFill>
                  <a:srgbClr val="333333"/>
                </a:solidFill>
                <a:latin typeface="Titillium Web"/>
              </a:rPr>
              <a:t> your project folder from command line:</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Example :</a:t>
            </a:r>
          </a:p>
          <a:p>
            <a:pPr lvl="0" defTabSz="914400">
              <a:buClrTx/>
              <a:buSzTx/>
            </a:pPr>
            <a:r>
              <a:rPr lang="en-US" altLang="en-US" sz="2400" dirty="0">
                <a:solidFill>
                  <a:srgbClr val="333333"/>
                </a:solidFill>
                <a:latin typeface="Titillium Web"/>
              </a:rPr>
              <a:t>cd C:\AirCanada</a:t>
            </a:r>
          </a:p>
          <a:p>
            <a:pPr lvl="0" defTabSz="914400">
              <a:buClrTx/>
              <a:buSzTx/>
            </a:pPr>
            <a:endParaRPr lang="en-US" altLang="en-US" sz="2400" dirty="0">
              <a:solidFill>
                <a:srgbClr val="333333"/>
              </a:solidFill>
              <a:latin typeface="Titillium Web"/>
            </a:endParaRPr>
          </a:p>
          <a:p>
            <a:pPr lvl="0" defTabSz="914400">
              <a:buClrTx/>
              <a:buSzTx/>
            </a:pPr>
            <a:r>
              <a:rPr lang="en-US" altLang="en-US" sz="2400" b="1" dirty="0">
                <a:solidFill>
                  <a:srgbClr val="333333"/>
                </a:solidFill>
                <a:latin typeface="Titillium Web"/>
              </a:rPr>
              <a:t>Clone: </a:t>
            </a:r>
          </a:p>
          <a:p>
            <a:pPr lvl="0" defTabSz="914400">
              <a:buClrTx/>
              <a:buSzTx/>
            </a:pPr>
            <a:r>
              <a:rPr lang="en-US" altLang="en-US" sz="2400" dirty="0">
                <a:solidFill>
                  <a:srgbClr val="333333"/>
                </a:solidFill>
                <a:latin typeface="Titillium Web"/>
              </a:rPr>
              <a:t>git clone </a:t>
            </a:r>
            <a:r>
              <a:rPr lang="en-US" altLang="en-US" sz="2400" dirty="0">
                <a:solidFill>
                  <a:srgbClr val="333333"/>
                </a:solidFill>
                <a:latin typeface="Titillium Web"/>
                <a:hlinkClick r:id="rId2"/>
              </a:rPr>
              <a:t>https://repo.ca-intranet.aimia.com/scm/ac/xrez-aeroplan-com.git</a:t>
            </a:r>
            <a:endParaRPr lang="en-US" altLang="en-US" sz="2400" dirty="0">
              <a:solidFill>
                <a:srgbClr val="333333"/>
              </a:solidFill>
              <a:latin typeface="Titillium Web"/>
            </a:endParaRPr>
          </a:p>
          <a:p>
            <a:pPr lvl="0" defTabSz="914400">
              <a:buClrTx/>
              <a:buSzTx/>
            </a:pPr>
            <a:endParaRPr lang="en-US" altLang="en-US" sz="2400" dirty="0">
              <a:solidFill>
                <a:srgbClr val="333333"/>
              </a:solidFill>
              <a:latin typeface="Titillium Web"/>
            </a:endParaRPr>
          </a:p>
          <a:p>
            <a:pPr defTabSz="914400">
              <a:buClrTx/>
              <a:buSzTx/>
            </a:pPr>
            <a:r>
              <a:rPr lang="en-US" altLang="en-US" sz="2400" b="1" dirty="0">
                <a:solidFill>
                  <a:srgbClr val="333333"/>
                </a:solidFill>
                <a:latin typeface="Titillium Web"/>
              </a:rPr>
              <a:t>List branches:</a:t>
            </a:r>
          </a:p>
          <a:p>
            <a:pPr defTabSz="914400">
              <a:buClrTx/>
              <a:buSzTx/>
            </a:pPr>
            <a:r>
              <a:rPr lang="en-US" altLang="en-US" sz="2400" dirty="0">
                <a:solidFill>
                  <a:srgbClr val="333333"/>
                </a:solidFill>
                <a:latin typeface="Titillium Web"/>
              </a:rPr>
              <a:t>$ git branch -a</a:t>
            </a:r>
          </a:p>
          <a:p>
            <a:pPr defTabSz="914400">
              <a:buClrTx/>
              <a:buSzTx/>
            </a:pPr>
            <a:r>
              <a:rPr lang="en-US" altLang="en-US" sz="2400" dirty="0">
                <a:solidFill>
                  <a:srgbClr val="333333"/>
                </a:solidFill>
                <a:latin typeface="Titillium Web"/>
              </a:rPr>
              <a:t>$ git branch –</a:t>
            </a:r>
            <a:r>
              <a:rPr lang="en-US" altLang="en-US" sz="2400" dirty="0" err="1">
                <a:solidFill>
                  <a:srgbClr val="333333"/>
                </a:solidFill>
                <a:latin typeface="Titillium Web"/>
              </a:rPr>
              <a:t>vv</a:t>
            </a:r>
            <a:endParaRPr lang="en-US" altLang="en-US" sz="2400" dirty="0">
              <a:solidFill>
                <a:srgbClr val="333333"/>
              </a:solidFill>
              <a:latin typeface="Titillium Web"/>
            </a:endParaRPr>
          </a:p>
          <a:p>
            <a:pPr defTabSz="914400">
              <a:buClrTx/>
              <a:buSzTx/>
            </a:pPr>
            <a:endParaRPr lang="en-US" altLang="en-US" sz="2400" dirty="0">
              <a:solidFill>
                <a:srgbClr val="333333"/>
              </a:solidFill>
              <a:latin typeface="Titillium Web"/>
            </a:endParaRPr>
          </a:p>
          <a:p>
            <a:pPr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973507380"/>
      </p:ext>
    </p:extLst>
  </p:cSld>
  <p:clrMapOvr>
    <a:masterClrMapping/>
  </p:clrMapOvr>
  <p:transition spd="slow" advTm="20180">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816188" y="131975"/>
            <a:ext cx="8001000" cy="387766"/>
          </a:xfrm>
        </p:spPr>
        <p:txBody>
          <a:bodyPr>
            <a:normAutofit fontScale="90000"/>
          </a:bodyPr>
          <a:lstStyle/>
          <a:p>
            <a:r>
              <a:rPr lang="en-US" sz="2400" dirty="0">
                <a:solidFill>
                  <a:srgbClr val="002060"/>
                </a:solidFill>
              </a:rPr>
              <a:t>Git Tips –  basic operations from command line</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646906" y="1785975"/>
            <a:ext cx="10898188"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buClrTx/>
              <a:buSzTx/>
            </a:pPr>
            <a:endParaRPr lang="en-US" altLang="en-US" sz="2400" dirty="0">
              <a:solidFill>
                <a:srgbClr val="333333"/>
              </a:solidFill>
              <a:latin typeface="Titillium Web"/>
            </a:endParaRPr>
          </a:p>
          <a:p>
            <a:pPr defTabSz="914400">
              <a:buClrTx/>
              <a:buSzTx/>
            </a:pPr>
            <a:r>
              <a:rPr lang="en-US" altLang="en-US" sz="2400" b="1" dirty="0">
                <a:solidFill>
                  <a:srgbClr val="333333"/>
                </a:solidFill>
                <a:latin typeface="Titillium Web"/>
              </a:rPr>
              <a:t>List status:</a:t>
            </a:r>
          </a:p>
          <a:p>
            <a:pPr defTabSz="914400">
              <a:buClrTx/>
              <a:buSzTx/>
            </a:pPr>
            <a:r>
              <a:rPr lang="en-US" altLang="en-US" sz="2400" dirty="0">
                <a:solidFill>
                  <a:srgbClr val="333333"/>
                </a:solidFill>
                <a:latin typeface="Titillium Web"/>
              </a:rPr>
              <a:t>$ git status </a:t>
            </a:r>
          </a:p>
          <a:p>
            <a:pPr defTabSz="914400">
              <a:buClrTx/>
              <a:buSzTx/>
            </a:pPr>
            <a:endParaRPr lang="en-US" altLang="en-US" sz="2400" dirty="0">
              <a:solidFill>
                <a:srgbClr val="333333"/>
              </a:solidFill>
              <a:latin typeface="Titillium Web"/>
            </a:endParaRPr>
          </a:p>
          <a:p>
            <a:pPr defTabSz="914400">
              <a:buClrTx/>
              <a:buSzTx/>
            </a:pPr>
            <a:r>
              <a:rPr lang="en-US" altLang="en-US" sz="2400" b="1" dirty="0">
                <a:solidFill>
                  <a:srgbClr val="333333"/>
                </a:solidFill>
                <a:latin typeface="Titillium Web"/>
              </a:rPr>
              <a:t>List Log:</a:t>
            </a:r>
          </a:p>
          <a:p>
            <a:pPr defTabSz="914400">
              <a:buClrTx/>
              <a:buSzTx/>
            </a:pPr>
            <a:r>
              <a:rPr lang="en-US" altLang="en-US" sz="2400" dirty="0">
                <a:solidFill>
                  <a:srgbClr val="333333"/>
                </a:solidFill>
                <a:latin typeface="Titillium Web"/>
              </a:rPr>
              <a:t>git log --</a:t>
            </a:r>
            <a:r>
              <a:rPr lang="en-US" altLang="en-US" sz="2400" dirty="0" err="1">
                <a:solidFill>
                  <a:srgbClr val="333333"/>
                </a:solidFill>
                <a:latin typeface="Titillium Web"/>
              </a:rPr>
              <a:t>oneline</a:t>
            </a:r>
            <a:r>
              <a:rPr lang="en-US" altLang="en-US" sz="2400" dirty="0">
                <a:solidFill>
                  <a:srgbClr val="333333"/>
                </a:solidFill>
                <a:latin typeface="Titillium Web"/>
              </a:rPr>
              <a:t> --decorate</a:t>
            </a:r>
          </a:p>
          <a:p>
            <a:pPr defTabSz="914400">
              <a:buClrTx/>
              <a:buSzTx/>
            </a:pPr>
            <a:endParaRPr lang="en-US" altLang="en-US" sz="2400" b="1" dirty="0">
              <a:solidFill>
                <a:srgbClr val="333333"/>
              </a:solidFill>
              <a:latin typeface="Titillium Web"/>
            </a:endParaRPr>
          </a:p>
          <a:p>
            <a:pPr defTabSz="914400">
              <a:buClrTx/>
              <a:buSzTx/>
            </a:pPr>
            <a:r>
              <a:rPr lang="en-US" altLang="en-US" sz="2400" b="1" dirty="0">
                <a:solidFill>
                  <a:srgbClr val="333333"/>
                </a:solidFill>
                <a:latin typeface="Titillium Web"/>
              </a:rPr>
              <a:t>Switching to a branch</a:t>
            </a:r>
          </a:p>
          <a:p>
            <a:pPr defTabSz="914400">
              <a:buClrTx/>
              <a:buSzTx/>
            </a:pPr>
            <a:r>
              <a:rPr lang="en-US" altLang="en-US" sz="2400" dirty="0">
                <a:solidFill>
                  <a:srgbClr val="333333"/>
                </a:solidFill>
                <a:latin typeface="Titillium Web"/>
              </a:rPr>
              <a:t>$ git checkout develop</a:t>
            </a:r>
          </a:p>
          <a:p>
            <a:pPr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2719470587"/>
      </p:ext>
    </p:extLst>
  </p:cSld>
  <p:clrMapOvr>
    <a:masterClrMapping/>
  </p:clrMapOvr>
  <p:transition spd="slow" advTm="20180">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816188" y="131975"/>
            <a:ext cx="8001000" cy="387766"/>
          </a:xfrm>
        </p:spPr>
        <p:txBody>
          <a:bodyPr>
            <a:normAutofit fontScale="90000"/>
          </a:bodyPr>
          <a:lstStyle/>
          <a:p>
            <a:r>
              <a:rPr lang="en-US" sz="2400" dirty="0">
                <a:solidFill>
                  <a:srgbClr val="002060"/>
                </a:solidFill>
              </a:rPr>
              <a:t>Git Tips –  basic operations from command line</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646906" y="862645"/>
            <a:ext cx="10898188" cy="55399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defTabSz="914400">
              <a:buClrTx/>
              <a:buSzTx/>
            </a:pPr>
            <a:r>
              <a:rPr lang="en-US" altLang="en-US" sz="2400" b="1" dirty="0" err="1">
                <a:solidFill>
                  <a:srgbClr val="333333"/>
                </a:solidFill>
                <a:latin typeface="Titillium Web"/>
              </a:rPr>
              <a:t>Сreate</a:t>
            </a:r>
            <a:r>
              <a:rPr lang="en-US" altLang="en-US" sz="2400" b="1" dirty="0">
                <a:solidFill>
                  <a:srgbClr val="333333"/>
                </a:solidFill>
                <a:latin typeface="Titillium Web"/>
              </a:rPr>
              <a:t> Git Branch and Checkout - Syntax</a:t>
            </a:r>
          </a:p>
          <a:p>
            <a:pPr defTabSz="914400">
              <a:buClrTx/>
              <a:buSzTx/>
            </a:pPr>
            <a:r>
              <a:rPr lang="en-US" altLang="en-US" sz="2400" dirty="0">
                <a:solidFill>
                  <a:srgbClr val="333333"/>
                </a:solidFill>
                <a:latin typeface="Titillium Web"/>
              </a:rPr>
              <a:t>Create a new Git branch and checkout:</a:t>
            </a:r>
          </a:p>
          <a:p>
            <a:pPr defTabSz="914400">
              <a:buClrTx/>
              <a:buSzTx/>
            </a:pPr>
            <a:r>
              <a:rPr lang="en-US" altLang="en-US" sz="2400" dirty="0">
                <a:solidFill>
                  <a:srgbClr val="333333"/>
                </a:solidFill>
                <a:latin typeface="Titillium Web"/>
              </a:rPr>
              <a:t>$ git branch &lt;</a:t>
            </a:r>
            <a:r>
              <a:rPr lang="en-US" altLang="en-US" sz="2400" dirty="0" err="1">
                <a:solidFill>
                  <a:srgbClr val="333333"/>
                </a:solidFill>
                <a:latin typeface="Titillium Web"/>
              </a:rPr>
              <a:t>branch_name</a:t>
            </a:r>
            <a:r>
              <a:rPr lang="en-US" altLang="en-US" sz="2400" dirty="0">
                <a:solidFill>
                  <a:srgbClr val="333333"/>
                </a:solidFill>
                <a:latin typeface="Titillium Web"/>
              </a:rPr>
              <a:t>&gt;</a:t>
            </a:r>
          </a:p>
          <a:p>
            <a:pPr defTabSz="914400">
              <a:buClrTx/>
              <a:buSzTx/>
            </a:pPr>
            <a:r>
              <a:rPr lang="en-US" altLang="en-US" sz="2400" dirty="0">
                <a:solidFill>
                  <a:srgbClr val="333333"/>
                </a:solidFill>
                <a:latin typeface="Titillium Web"/>
              </a:rPr>
              <a:t>$ git checkout &lt;</a:t>
            </a:r>
            <a:r>
              <a:rPr lang="en-US" altLang="en-US" sz="2400" dirty="0" err="1">
                <a:solidFill>
                  <a:srgbClr val="333333"/>
                </a:solidFill>
                <a:latin typeface="Titillium Web"/>
              </a:rPr>
              <a:t>branch_name</a:t>
            </a:r>
            <a:r>
              <a:rPr lang="en-US" altLang="en-US" sz="2400" dirty="0">
                <a:solidFill>
                  <a:srgbClr val="333333"/>
                </a:solidFill>
                <a:latin typeface="Titillium Web"/>
              </a:rPr>
              <a:t>&gt;</a:t>
            </a:r>
          </a:p>
          <a:p>
            <a:pPr defTabSz="914400">
              <a:buClrTx/>
              <a:buSzTx/>
            </a:pPr>
            <a:r>
              <a:rPr lang="en-US" altLang="en-US" sz="2400" dirty="0">
                <a:solidFill>
                  <a:srgbClr val="333333"/>
                </a:solidFill>
                <a:latin typeface="Titillium Web"/>
              </a:rPr>
              <a:t>Create a Git branch and checkout in one command:</a:t>
            </a:r>
          </a:p>
          <a:p>
            <a:pPr defTabSz="914400">
              <a:buClrTx/>
              <a:buSzTx/>
            </a:pPr>
            <a:r>
              <a:rPr lang="en-US" altLang="en-US" sz="2400" dirty="0">
                <a:solidFill>
                  <a:srgbClr val="333333"/>
                </a:solidFill>
                <a:latin typeface="Titillium Web"/>
              </a:rPr>
              <a:t>$ git checkout -b &lt;</a:t>
            </a:r>
            <a:r>
              <a:rPr lang="en-US" altLang="en-US" sz="2400" dirty="0" err="1">
                <a:solidFill>
                  <a:srgbClr val="333333"/>
                </a:solidFill>
                <a:latin typeface="Titillium Web"/>
              </a:rPr>
              <a:t>branch_name</a:t>
            </a:r>
            <a:r>
              <a:rPr lang="en-US" altLang="en-US" sz="2400" dirty="0">
                <a:solidFill>
                  <a:srgbClr val="333333"/>
                </a:solidFill>
                <a:latin typeface="Titillium Web"/>
              </a:rPr>
              <a:t>&gt;</a:t>
            </a:r>
          </a:p>
          <a:p>
            <a:pPr defTabSz="914400">
              <a:buClrTx/>
              <a:buSzTx/>
            </a:pPr>
            <a:endParaRPr lang="en-US" altLang="en-US" sz="2400" b="1" dirty="0">
              <a:solidFill>
                <a:srgbClr val="333333"/>
              </a:solidFill>
              <a:latin typeface="Titillium Web"/>
            </a:endParaRPr>
          </a:p>
          <a:p>
            <a:pPr lvl="0" defTabSz="914400">
              <a:buClrTx/>
              <a:buSzTx/>
            </a:pPr>
            <a:r>
              <a:rPr lang="en-US" altLang="en-US" sz="2400" b="1" dirty="0">
                <a:solidFill>
                  <a:srgbClr val="333333"/>
                </a:solidFill>
                <a:latin typeface="Titillium Web"/>
              </a:rPr>
              <a:t>Example:</a:t>
            </a:r>
          </a:p>
          <a:p>
            <a:pPr lvl="0" defTabSz="914400">
              <a:buClrTx/>
              <a:buSzTx/>
            </a:pPr>
            <a:r>
              <a:rPr lang="en-US" altLang="en-US" sz="2400" dirty="0">
                <a:solidFill>
                  <a:srgbClr val="333333"/>
                </a:solidFill>
                <a:latin typeface="Titillium Web"/>
              </a:rPr>
              <a:t>$ git checkout -b bugfix/BWKB-1187-popup-misaligned</a:t>
            </a:r>
          </a:p>
          <a:p>
            <a:pPr lvl="0" defTabSz="914400">
              <a:buClrTx/>
              <a:buSzTx/>
            </a:pPr>
            <a:r>
              <a:rPr lang="en-US" altLang="en-US" sz="2400" dirty="0">
                <a:solidFill>
                  <a:srgbClr val="333333"/>
                </a:solidFill>
                <a:latin typeface="Titillium Web"/>
              </a:rPr>
              <a:t>Switched to a new branch " bugfix/BWKB-1187-popup-misaligned“</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This is shorthand for:</a:t>
            </a:r>
          </a:p>
          <a:p>
            <a:pPr lvl="0" defTabSz="914400">
              <a:buClrTx/>
              <a:buSzTx/>
            </a:pPr>
            <a:r>
              <a:rPr lang="en-US" altLang="en-US" sz="2400" dirty="0">
                <a:solidFill>
                  <a:srgbClr val="333333"/>
                </a:solidFill>
                <a:latin typeface="Titillium Web"/>
              </a:rPr>
              <a:t>$ git branch bugfix/BWKB-1187-popup-misaligned</a:t>
            </a:r>
          </a:p>
          <a:p>
            <a:pPr lvl="0" defTabSz="914400">
              <a:buClrTx/>
              <a:buSzTx/>
            </a:pPr>
            <a:r>
              <a:rPr lang="en-US" altLang="en-US" sz="2400" dirty="0">
                <a:solidFill>
                  <a:srgbClr val="333333"/>
                </a:solidFill>
                <a:latin typeface="Titillium Web"/>
              </a:rPr>
              <a:t>$ git checkout bugfix/BWKB-1187-popup-misaligned</a:t>
            </a:r>
          </a:p>
        </p:txBody>
      </p:sp>
    </p:spTree>
    <p:extLst>
      <p:ext uri="{BB962C8B-B14F-4D97-AF65-F5344CB8AC3E}">
        <p14:creationId xmlns:p14="http://schemas.microsoft.com/office/powerpoint/2010/main" val="3666506458"/>
      </p:ext>
    </p:extLst>
  </p:cSld>
  <p:clrMapOvr>
    <a:masterClrMapping/>
  </p:clrMapOvr>
  <p:transition spd="slow" advTm="20180">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82483"/>
            <a:ext cx="8001000" cy="695961"/>
          </a:xfrm>
        </p:spPr>
        <p:txBody>
          <a:bodyPr>
            <a:normAutofit/>
          </a:bodyPr>
          <a:lstStyle/>
          <a:p>
            <a:r>
              <a:rPr lang="en-US" sz="2400" dirty="0">
                <a:solidFill>
                  <a:srgbClr val="002060"/>
                </a:solidFill>
              </a:rPr>
              <a:t>Git Tips –  basic operations from command line</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684212" y="1288542"/>
            <a:ext cx="10898188"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buClrTx/>
              <a:buSzTx/>
            </a:pPr>
            <a:endParaRPr lang="en-US" altLang="en-US" sz="2400" dirty="0">
              <a:solidFill>
                <a:srgbClr val="333333"/>
              </a:solidFill>
              <a:latin typeface="Titillium Web"/>
            </a:endParaRPr>
          </a:p>
          <a:p>
            <a:pPr defTabSz="914400">
              <a:buClrTx/>
              <a:buSzTx/>
            </a:pPr>
            <a:r>
              <a:rPr lang="en-US" altLang="en-US" sz="2400" dirty="0">
                <a:solidFill>
                  <a:srgbClr val="333333"/>
                </a:solidFill>
                <a:latin typeface="Titillium Web"/>
              </a:rPr>
              <a:t>(or)</a:t>
            </a:r>
          </a:p>
          <a:p>
            <a:pPr defTabSz="914400">
              <a:buClrTx/>
              <a:buSzTx/>
            </a:pPr>
            <a:r>
              <a:rPr lang="en-US" altLang="en-US" sz="2400" dirty="0">
                <a:solidFill>
                  <a:srgbClr val="333333"/>
                </a:solidFill>
                <a:highlight>
                  <a:srgbClr val="FFFF00"/>
                </a:highlight>
                <a:latin typeface="Titillium Web"/>
              </a:rPr>
              <a:t>git checkout -b bugfix/BWKB-1187-popup-misaligned develop</a:t>
            </a:r>
          </a:p>
          <a:p>
            <a:pPr lvl="0" defTabSz="914400">
              <a:buClrTx/>
              <a:buSzTx/>
            </a:pPr>
            <a:endParaRPr lang="en-US" altLang="en-US" sz="2400" dirty="0">
              <a:solidFill>
                <a:srgbClr val="333333"/>
              </a:solidFill>
              <a:latin typeface="Titillium Web"/>
            </a:endParaRPr>
          </a:p>
          <a:p>
            <a:pPr lvl="0" defTabSz="914400">
              <a:buClrTx/>
              <a:buSzTx/>
            </a:pPr>
            <a:r>
              <a:rPr lang="en-US" altLang="en-US" sz="2400" b="1" dirty="0">
                <a:solidFill>
                  <a:srgbClr val="333333"/>
                </a:solidFill>
                <a:latin typeface="Titillium Web"/>
              </a:rPr>
              <a:t>Add and commit:</a:t>
            </a:r>
          </a:p>
          <a:p>
            <a:pPr lvl="0" defTabSz="914400">
              <a:buClrTx/>
              <a:buSzTx/>
            </a:pPr>
            <a:r>
              <a:rPr lang="en-US" altLang="en-US" sz="2400" dirty="0">
                <a:solidFill>
                  <a:srgbClr val="333333"/>
                </a:solidFill>
                <a:latin typeface="Titillium Web"/>
              </a:rPr>
              <a:t>add files and commit </a:t>
            </a:r>
          </a:p>
          <a:p>
            <a:pPr lvl="0" defTabSz="914400">
              <a:buClrTx/>
              <a:buSzTx/>
            </a:pPr>
            <a:r>
              <a:rPr lang="en-US" altLang="en-US" sz="2400" dirty="0">
                <a:solidFill>
                  <a:srgbClr val="333333"/>
                </a:solidFill>
                <a:latin typeface="Titillium Web"/>
              </a:rPr>
              <a:t>git add &lt;filename&gt; </a:t>
            </a:r>
          </a:p>
          <a:p>
            <a:pPr lvl="0" defTabSz="914400">
              <a:buClrTx/>
              <a:buSzTx/>
            </a:pPr>
            <a:r>
              <a:rPr lang="en-US" altLang="en-US" sz="2400" dirty="0">
                <a:solidFill>
                  <a:srgbClr val="333333"/>
                </a:solidFill>
                <a:latin typeface="Titillium Web"/>
              </a:rPr>
              <a:t>git commit -a -m "Updated POM version to SNAPSHOT"</a:t>
            </a:r>
          </a:p>
          <a:p>
            <a:pPr lvl="0" defTabSz="914400">
              <a:buClrTx/>
              <a:buSzTx/>
            </a:pPr>
            <a:endParaRPr lang="en-US" altLang="en-US" sz="2400" dirty="0">
              <a:solidFill>
                <a:srgbClr val="333333"/>
              </a:solidFill>
              <a:latin typeface="Titillium Web"/>
            </a:endParaRPr>
          </a:p>
          <a:p>
            <a:pPr lvl="0" defTabSz="914400">
              <a:buClrTx/>
              <a:buSzTx/>
            </a:pPr>
            <a:r>
              <a:rPr lang="en-US" altLang="en-US" sz="2400" b="1" dirty="0">
                <a:solidFill>
                  <a:srgbClr val="333333"/>
                </a:solidFill>
                <a:latin typeface="Titillium Web"/>
              </a:rPr>
              <a:t>Set Upstream for push and pull : (one time activity while branch creation)</a:t>
            </a:r>
          </a:p>
          <a:p>
            <a:pPr lvl="0" defTabSz="914400">
              <a:buClrTx/>
              <a:buSzTx/>
            </a:pPr>
            <a:r>
              <a:rPr lang="en-US" altLang="en-US" sz="2400" dirty="0">
                <a:solidFill>
                  <a:srgbClr val="333333"/>
                </a:solidFill>
                <a:latin typeface="Titillium Web"/>
              </a:rPr>
              <a:t>git push --set-upstream origin bugfix/BWKB-1187-pop-alignment</a:t>
            </a:r>
          </a:p>
          <a:p>
            <a:pPr lvl="0" defTabSz="914400">
              <a:buClrTx/>
              <a:buSzTx/>
            </a:pPr>
            <a:endParaRPr lang="en-US" altLang="en-US" sz="2400" dirty="0">
              <a:solidFill>
                <a:srgbClr val="333333"/>
              </a:solidFill>
              <a:latin typeface="Titillium Web"/>
            </a:endParaRP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1816820226"/>
      </p:ext>
    </p:extLst>
  </p:cSld>
  <p:clrMapOvr>
    <a:masterClrMapping/>
  </p:clrMapOvr>
  <p:transition spd="slow" advTm="20180">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514530" y="167324"/>
            <a:ext cx="8001000" cy="695961"/>
          </a:xfrm>
        </p:spPr>
        <p:txBody>
          <a:bodyPr>
            <a:normAutofit/>
          </a:bodyPr>
          <a:lstStyle/>
          <a:p>
            <a:r>
              <a:rPr lang="en-US" sz="2400" dirty="0">
                <a:solidFill>
                  <a:srgbClr val="002060"/>
                </a:solidFill>
              </a:rPr>
              <a:t>Git Tips –  basic operations from command line</a:t>
            </a:r>
          </a:p>
        </p:txBody>
      </p:sp>
      <p:pic>
        <p:nvPicPr>
          <p:cNvPr id="3076" name="Picture 4" descr="https://i.stack.imgur.com/6qEWk.jpg">
            <a:extLst>
              <a:ext uri="{FF2B5EF4-FFF2-40B4-BE49-F238E27FC236}">
                <a16:creationId xmlns:a16="http://schemas.microsoft.com/office/drawing/2014/main" id="{3D5B2F55-B1C2-403D-B7F5-5B2903BFBF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3462" y="801277"/>
            <a:ext cx="8076281" cy="6024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814870"/>
      </p:ext>
    </p:extLst>
  </p:cSld>
  <p:clrMapOvr>
    <a:masterClrMapping/>
  </p:clrMapOvr>
  <p:transition spd="slow" advTm="20180">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a:bodyPr>
          <a:lstStyle/>
          <a:p>
            <a:r>
              <a:rPr lang="en-US" sz="3200" dirty="0">
                <a:solidFill>
                  <a:srgbClr val="002060"/>
                </a:solidFill>
              </a:rPr>
              <a:t>Git Tips – command line</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646906" y="2078207"/>
            <a:ext cx="10898188"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2400" dirty="0">
                <a:solidFill>
                  <a:srgbClr val="333333"/>
                </a:solidFill>
                <a:latin typeface="Titillium Web"/>
              </a:rPr>
              <a:t>Renaming a Branch</a:t>
            </a:r>
          </a:p>
          <a:p>
            <a:pPr lvl="0" defTabSz="914400">
              <a:buClrTx/>
              <a:buSzTx/>
            </a:pPr>
            <a:r>
              <a:rPr lang="en-US" altLang="en-US" sz="2400" dirty="0">
                <a:solidFill>
                  <a:srgbClr val="333333"/>
                </a:solidFill>
                <a:latin typeface="Titillium Web"/>
              </a:rPr>
              <a:t>$ git branch -m branch1 </a:t>
            </a:r>
            <a:r>
              <a:rPr lang="en-US" altLang="en-US" sz="2400" dirty="0" err="1">
                <a:solidFill>
                  <a:srgbClr val="333333"/>
                </a:solidFill>
                <a:latin typeface="Titillium Web"/>
              </a:rPr>
              <a:t>newbranchname</a:t>
            </a:r>
            <a:endParaRPr lang="en-US" altLang="en-US" sz="2400" dirty="0">
              <a:solidFill>
                <a:srgbClr val="333333"/>
              </a:solidFill>
              <a:latin typeface="Titillium Web"/>
            </a:endParaRPr>
          </a:p>
          <a:p>
            <a:pPr lvl="0" defTabSz="914400">
              <a:buClrTx/>
              <a:buSzTx/>
            </a:pPr>
            <a:endParaRPr lang="en-US" altLang="en-US" sz="2400" dirty="0">
              <a:solidFill>
                <a:srgbClr val="333333"/>
              </a:solidFill>
              <a:latin typeface="Titillium Web"/>
            </a:endParaRP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Delete a Branch</a:t>
            </a:r>
          </a:p>
          <a:p>
            <a:pPr lvl="0" defTabSz="914400">
              <a:buClrTx/>
              <a:buSzTx/>
            </a:pPr>
            <a:r>
              <a:rPr lang="en-US" altLang="en-US" sz="2400" dirty="0">
                <a:solidFill>
                  <a:srgbClr val="333333"/>
                </a:solidFill>
                <a:latin typeface="Titillium Web"/>
              </a:rPr>
              <a:t>$ git branch -d branch-to-delete</a:t>
            </a:r>
          </a:p>
          <a:p>
            <a:pPr lvl="0" defTabSz="914400">
              <a:buClrTx/>
              <a:buSzTx/>
            </a:pPr>
            <a:r>
              <a:rPr lang="en-US" altLang="en-US" sz="2400" dirty="0">
                <a:solidFill>
                  <a:srgbClr val="333333"/>
                </a:solidFill>
                <a:latin typeface="Titillium Web"/>
              </a:rPr>
              <a:t>$ git branch -D branch-to-delete ( force deletion without checking the merged status )</a:t>
            </a:r>
          </a:p>
          <a:p>
            <a:pPr lvl="0" defTabSz="914400">
              <a:buClrTx/>
              <a:buSzTx/>
            </a:pPr>
            <a:endParaRPr lang="en-US" altLang="en-US" sz="2400" dirty="0">
              <a:solidFill>
                <a:srgbClr val="333333"/>
              </a:solidFill>
              <a:latin typeface="Titillium Web"/>
            </a:endParaRPr>
          </a:p>
          <a:p>
            <a:pPr lvl="0" defTabSz="914400">
              <a:buClrTx/>
              <a:buSzTx/>
            </a:pPr>
            <a:endParaRPr lang="en-US" altLang="en-US" sz="2400" dirty="0">
              <a:solidFill>
                <a:srgbClr val="333333"/>
              </a:solidFill>
              <a:latin typeface="Titillium Web"/>
            </a:endParaRP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3082314412"/>
      </p:ext>
    </p:extLst>
  </p:cSld>
  <p:clrMapOvr>
    <a:masterClrMapping/>
  </p:clrMapOvr>
  <p:transition spd="slow" advTm="20180">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35349"/>
            <a:ext cx="8001000" cy="695961"/>
          </a:xfrm>
        </p:spPr>
        <p:txBody>
          <a:bodyPr>
            <a:normAutofit/>
          </a:bodyPr>
          <a:lstStyle/>
          <a:p>
            <a:r>
              <a:rPr lang="en-US" sz="2400" dirty="0">
                <a:solidFill>
                  <a:srgbClr val="002060"/>
                </a:solidFill>
              </a:rPr>
              <a:t>Git Tips – Merging</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646906" y="828806"/>
            <a:ext cx="10898188" cy="59093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2400" dirty="0">
                <a:solidFill>
                  <a:srgbClr val="333333"/>
                </a:solidFill>
                <a:latin typeface="Titillium Web"/>
              </a:rPr>
              <a:t>I generally like to merge master (parent branch) into the development (child branch) first so that if there are any conflicts, I can resolve in the development branch (child branch)  itself and my master(parent branch) remains clean.</a:t>
            </a:r>
          </a:p>
          <a:p>
            <a:pPr lvl="0" defTabSz="914400">
              <a:buClrTx/>
              <a:buSzTx/>
            </a:pPr>
            <a:endParaRPr lang="en-US" altLang="en-US" sz="2400" dirty="0">
              <a:solidFill>
                <a:srgbClr val="333333"/>
              </a:solidFill>
              <a:latin typeface="Titillium Web"/>
            </a:endParaRPr>
          </a:p>
          <a:p>
            <a:pPr lvl="0" defTabSz="914400">
              <a:buClrTx/>
              <a:buSzTx/>
            </a:pPr>
            <a:r>
              <a:rPr lang="en-US" altLang="en-US" sz="2400" b="1" dirty="0">
                <a:solidFill>
                  <a:srgbClr val="333333"/>
                </a:solidFill>
                <a:latin typeface="Titillium Web"/>
              </a:rPr>
              <a:t>$ git checkout development</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(on branch development)</a:t>
            </a:r>
            <a:r>
              <a:rPr lang="en-US" altLang="en-US" sz="2400" b="1" dirty="0">
                <a:solidFill>
                  <a:srgbClr val="333333"/>
                </a:solidFill>
                <a:latin typeface="Titillium Web"/>
              </a:rPr>
              <a:t>$ git merge master</a:t>
            </a:r>
          </a:p>
          <a:p>
            <a:pPr lvl="0" defTabSz="914400">
              <a:buClrTx/>
              <a:buSzTx/>
            </a:pPr>
            <a:r>
              <a:rPr lang="en-US" altLang="en-US" sz="2400" dirty="0">
                <a:solidFill>
                  <a:srgbClr val="333333"/>
                </a:solidFill>
                <a:latin typeface="Titillium Web"/>
              </a:rPr>
              <a:t>(resolve any merge conflicts if there are any)</a:t>
            </a:r>
          </a:p>
          <a:p>
            <a:pPr lvl="0" defTabSz="914400">
              <a:buClrTx/>
              <a:buSzTx/>
            </a:pPr>
            <a:endParaRPr lang="en-US" altLang="en-US" sz="2400" dirty="0">
              <a:solidFill>
                <a:srgbClr val="333333"/>
              </a:solidFill>
              <a:latin typeface="Titillium Web"/>
            </a:endParaRPr>
          </a:p>
          <a:p>
            <a:pPr lvl="0" defTabSz="914400">
              <a:buClrTx/>
              <a:buSzTx/>
            </a:pPr>
            <a:r>
              <a:rPr lang="en-US" altLang="en-US" sz="2400" b="1" dirty="0">
                <a:solidFill>
                  <a:srgbClr val="333333"/>
                </a:solidFill>
                <a:latin typeface="Titillium Web"/>
              </a:rPr>
              <a:t>git checkout master</a:t>
            </a:r>
          </a:p>
          <a:p>
            <a:pPr lvl="0" defTabSz="914400">
              <a:buClrTx/>
              <a:buSzTx/>
            </a:pPr>
            <a:endParaRPr lang="en-US" altLang="en-US" sz="2400" dirty="0">
              <a:solidFill>
                <a:srgbClr val="333333"/>
              </a:solidFill>
              <a:latin typeface="Titillium Web"/>
            </a:endParaRPr>
          </a:p>
          <a:p>
            <a:pPr lvl="0" defTabSz="914400">
              <a:buClrTx/>
              <a:buSzTx/>
            </a:pPr>
            <a:r>
              <a:rPr lang="en-US" altLang="en-US" sz="2400" b="1" dirty="0">
                <a:solidFill>
                  <a:srgbClr val="333333"/>
                </a:solidFill>
                <a:latin typeface="Titillium Web"/>
              </a:rPr>
              <a:t>git merge development</a:t>
            </a:r>
            <a:r>
              <a:rPr lang="en-US" altLang="en-US" sz="2400" dirty="0">
                <a:solidFill>
                  <a:srgbClr val="333333"/>
                </a:solidFill>
                <a:latin typeface="Titillium Web"/>
              </a:rPr>
              <a:t> (there won't be any conflicts now)</a:t>
            </a: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there is still more work to be done before these can be merged, so I tend to leave master untouched until final stuff.</a:t>
            </a:r>
          </a:p>
          <a:p>
            <a:pPr lvl="0"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1169643608"/>
      </p:ext>
    </p:extLst>
  </p:cSld>
  <p:clrMapOvr>
    <a:masterClrMapping/>
  </p:clrMapOvr>
  <p:transition spd="slow" advTm="20180">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35349"/>
            <a:ext cx="8001000" cy="695961"/>
          </a:xfrm>
        </p:spPr>
        <p:txBody>
          <a:bodyPr>
            <a:normAutofit/>
          </a:bodyPr>
          <a:lstStyle/>
          <a:p>
            <a:r>
              <a:rPr lang="en-US" sz="2400" dirty="0">
                <a:solidFill>
                  <a:srgbClr val="002060"/>
                </a:solidFill>
              </a:rPr>
              <a:t>Git Tips – command line operations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646906" y="838233"/>
            <a:ext cx="10898188" cy="59093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r>
              <a:rPr lang="en-US" altLang="en-US" sz="2400" dirty="0">
                <a:solidFill>
                  <a:srgbClr val="333333"/>
                </a:solidFill>
                <a:latin typeface="Titillium Web"/>
              </a:rPr>
              <a:t>echo " Local branches " </a:t>
            </a:r>
          </a:p>
          <a:p>
            <a:pPr lvl="0" defTabSz="914400">
              <a:buClrTx/>
              <a:buSzTx/>
            </a:pPr>
            <a:r>
              <a:rPr lang="en-US" altLang="en-US" sz="2400" dirty="0">
                <a:solidFill>
                  <a:srgbClr val="333333"/>
                </a:solidFill>
                <a:latin typeface="Titillium Web"/>
              </a:rPr>
              <a:t>echo " ***************  " </a:t>
            </a:r>
          </a:p>
          <a:p>
            <a:pPr lvl="0" defTabSz="914400">
              <a:buClrTx/>
              <a:buSzTx/>
            </a:pPr>
            <a:r>
              <a:rPr lang="en-US" altLang="en-US" sz="2400" dirty="0">
                <a:solidFill>
                  <a:srgbClr val="333333"/>
                </a:solidFill>
                <a:latin typeface="Titillium Web"/>
              </a:rPr>
              <a:t>git branch</a:t>
            </a:r>
          </a:p>
          <a:p>
            <a:pPr defTabSz="914400">
              <a:buClrTx/>
              <a:buSzTx/>
            </a:pPr>
            <a:r>
              <a:rPr lang="en-US" altLang="en-US" sz="2400" dirty="0">
                <a:solidFill>
                  <a:srgbClr val="333333"/>
                </a:solidFill>
                <a:latin typeface="Titillium Web"/>
              </a:rPr>
              <a:t>git branch -</a:t>
            </a:r>
            <a:r>
              <a:rPr lang="en-US" altLang="en-US" sz="2400" dirty="0" err="1">
                <a:solidFill>
                  <a:srgbClr val="333333"/>
                </a:solidFill>
                <a:latin typeface="Titillium Web"/>
              </a:rPr>
              <a:t>vv</a:t>
            </a: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 </a:t>
            </a:r>
          </a:p>
          <a:p>
            <a:pPr lvl="0" defTabSz="914400">
              <a:buClrTx/>
              <a:buSzTx/>
            </a:pPr>
            <a:r>
              <a:rPr lang="en-US" altLang="en-US" sz="2400" dirty="0">
                <a:solidFill>
                  <a:srgbClr val="333333"/>
                </a:solidFill>
                <a:latin typeface="Titillium Web"/>
              </a:rPr>
              <a:t>echo " Remote branches " </a:t>
            </a:r>
          </a:p>
          <a:p>
            <a:pPr lvl="0" defTabSz="914400">
              <a:buClrTx/>
              <a:buSzTx/>
            </a:pPr>
            <a:r>
              <a:rPr lang="en-US" altLang="en-US" sz="2400" dirty="0">
                <a:solidFill>
                  <a:srgbClr val="333333"/>
                </a:solidFill>
                <a:latin typeface="Titillium Web"/>
              </a:rPr>
              <a:t>echo " ***************  " </a:t>
            </a:r>
          </a:p>
          <a:p>
            <a:pPr lvl="0" defTabSz="914400">
              <a:buClrTx/>
              <a:buSzTx/>
            </a:pPr>
            <a:r>
              <a:rPr lang="en-US" altLang="en-US" sz="2400" dirty="0">
                <a:solidFill>
                  <a:srgbClr val="333333"/>
                </a:solidFill>
                <a:latin typeface="Titillium Web"/>
              </a:rPr>
              <a:t>git remote -</a:t>
            </a:r>
            <a:r>
              <a:rPr lang="en-US" altLang="en-US" sz="2400" dirty="0" err="1">
                <a:solidFill>
                  <a:srgbClr val="333333"/>
                </a:solidFill>
                <a:latin typeface="Titillium Web"/>
              </a:rPr>
              <a:t>vv</a:t>
            </a:r>
            <a:endParaRPr lang="en-US" altLang="en-US" sz="2400" dirty="0">
              <a:solidFill>
                <a:srgbClr val="333333"/>
              </a:solidFill>
              <a:latin typeface="Titillium Web"/>
            </a:endParaRPr>
          </a:p>
          <a:p>
            <a:pPr lvl="0" defTabSz="914400">
              <a:buClrTx/>
              <a:buSzTx/>
            </a:pPr>
            <a:endParaRPr lang="en-US" altLang="en-US" sz="2400" dirty="0">
              <a:solidFill>
                <a:srgbClr val="333333"/>
              </a:solidFill>
              <a:latin typeface="Titillium Web"/>
            </a:endParaRPr>
          </a:p>
          <a:p>
            <a:pPr lvl="0" defTabSz="914400">
              <a:buClrTx/>
              <a:buSzTx/>
            </a:pPr>
            <a:r>
              <a:rPr lang="en-US" altLang="en-US" sz="2400" dirty="0">
                <a:solidFill>
                  <a:srgbClr val="333333"/>
                </a:solidFill>
                <a:latin typeface="Titillium Web"/>
              </a:rPr>
              <a:t>echo " All remote branches" </a:t>
            </a:r>
          </a:p>
          <a:p>
            <a:pPr lvl="0" defTabSz="914400">
              <a:buClrTx/>
              <a:buSzTx/>
            </a:pPr>
            <a:r>
              <a:rPr lang="en-US" altLang="en-US" sz="2400" dirty="0">
                <a:solidFill>
                  <a:srgbClr val="333333"/>
                </a:solidFill>
                <a:latin typeface="Titillium Web"/>
              </a:rPr>
              <a:t>echo " ***************  " </a:t>
            </a:r>
          </a:p>
          <a:p>
            <a:pPr lvl="0" defTabSz="914400">
              <a:buClrTx/>
              <a:buSzTx/>
            </a:pPr>
            <a:r>
              <a:rPr lang="en-US" altLang="en-US" sz="2400" dirty="0">
                <a:solidFill>
                  <a:srgbClr val="333333"/>
                </a:solidFill>
                <a:latin typeface="Titillium Web"/>
              </a:rPr>
              <a:t>git branch –a</a:t>
            </a:r>
          </a:p>
          <a:p>
            <a:pPr lvl="0" defTabSz="914400">
              <a:buClrTx/>
              <a:buSzTx/>
            </a:pPr>
            <a:r>
              <a:rPr lang="en-US" altLang="en-US" sz="2400" dirty="0">
                <a:solidFill>
                  <a:srgbClr val="333333"/>
                </a:solidFill>
                <a:latin typeface="Titillium Web"/>
              </a:rPr>
              <a:t>echo " Status" </a:t>
            </a:r>
          </a:p>
          <a:p>
            <a:pPr lvl="0" defTabSz="914400">
              <a:buClrTx/>
              <a:buSzTx/>
            </a:pPr>
            <a:r>
              <a:rPr lang="en-US" altLang="en-US" sz="2400" dirty="0">
                <a:solidFill>
                  <a:srgbClr val="333333"/>
                </a:solidFill>
                <a:latin typeface="Titillium Web"/>
              </a:rPr>
              <a:t>echo " ***************  " </a:t>
            </a:r>
          </a:p>
          <a:p>
            <a:pPr lvl="0" defTabSz="914400">
              <a:buClrTx/>
              <a:buSzTx/>
            </a:pPr>
            <a:r>
              <a:rPr lang="en-US" altLang="en-US" sz="2400" dirty="0">
                <a:solidFill>
                  <a:srgbClr val="333333"/>
                </a:solidFill>
                <a:latin typeface="Titillium Web"/>
              </a:rPr>
              <a:t>git status</a:t>
            </a:r>
          </a:p>
          <a:p>
            <a:pPr lvl="0" defTabSz="914400">
              <a:buClrTx/>
              <a:buSzTx/>
            </a:pPr>
            <a:r>
              <a:rPr lang="en-US" altLang="en-US" sz="2400" dirty="0">
                <a:solidFill>
                  <a:srgbClr val="333333"/>
                </a:solidFill>
                <a:latin typeface="Titillium Web"/>
              </a:rPr>
              <a:t>Extract and copy the attached id.bat in your path. Then type id from your working dir.</a:t>
            </a:r>
          </a:p>
        </p:txBody>
      </p:sp>
      <p:graphicFrame>
        <p:nvGraphicFramePr>
          <p:cNvPr id="3" name="Object 2">
            <a:extLst>
              <a:ext uri="{FF2B5EF4-FFF2-40B4-BE49-F238E27FC236}">
                <a16:creationId xmlns:a16="http://schemas.microsoft.com/office/drawing/2014/main" id="{183213B8-47ED-4E97-9954-A5D9A0B101A1}"/>
              </a:ext>
            </a:extLst>
          </p:cNvPr>
          <p:cNvGraphicFramePr>
            <a:graphicFrameLocks noChangeAspect="1"/>
          </p:cNvGraphicFramePr>
          <p:nvPr>
            <p:extLst>
              <p:ext uri="{D42A27DB-BD31-4B8C-83A1-F6EECF244321}">
                <p14:modId xmlns:p14="http://schemas.microsoft.com/office/powerpoint/2010/main" val="2259737426"/>
              </p:ext>
            </p:extLst>
          </p:nvPr>
        </p:nvGraphicFramePr>
        <p:xfrm>
          <a:off x="6659478" y="1125947"/>
          <a:ext cx="2616497" cy="1268461"/>
        </p:xfrm>
        <a:graphic>
          <a:graphicData uri="http://schemas.openxmlformats.org/presentationml/2006/ole">
            <mc:AlternateContent xmlns:mc="http://schemas.openxmlformats.org/markup-compatibility/2006">
              <mc:Choice xmlns:v="urn:schemas-microsoft-com:vml" Requires="v">
                <p:oleObj spid="_x0000_s7176" name="Packager Shell Object" showAsIcon="1" r:id="rId3" imgW="346680" imgH="478800" progId="Package">
                  <p:embed/>
                </p:oleObj>
              </mc:Choice>
              <mc:Fallback>
                <p:oleObj name="Packager Shell Object" showAsIcon="1" r:id="rId3" imgW="346680" imgH="478800" progId="Package">
                  <p:embed/>
                  <p:pic>
                    <p:nvPicPr>
                      <p:cNvPr id="0" name=""/>
                      <p:cNvPicPr/>
                      <p:nvPr/>
                    </p:nvPicPr>
                    <p:blipFill>
                      <a:blip r:embed="rId4"/>
                      <a:stretch>
                        <a:fillRect/>
                      </a:stretch>
                    </p:blipFill>
                    <p:spPr>
                      <a:xfrm>
                        <a:off x="6659478" y="1125947"/>
                        <a:ext cx="2616497" cy="1268461"/>
                      </a:xfrm>
                      <a:prstGeom prst="rect">
                        <a:avLst/>
                      </a:prstGeom>
                    </p:spPr>
                  </p:pic>
                </p:oleObj>
              </mc:Fallback>
            </mc:AlternateContent>
          </a:graphicData>
        </a:graphic>
      </p:graphicFrame>
    </p:spTree>
    <p:extLst>
      <p:ext uri="{BB962C8B-B14F-4D97-AF65-F5344CB8AC3E}">
        <p14:creationId xmlns:p14="http://schemas.microsoft.com/office/powerpoint/2010/main" val="18000455"/>
      </p:ext>
    </p:extLst>
  </p:cSld>
  <p:clrMapOvr>
    <a:masterClrMapping/>
  </p:clrMapOvr>
  <p:transition spd="slow" advTm="20180">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0">
            <a:extLst>
              <a:ext uri="{FF2B5EF4-FFF2-40B4-BE49-F238E27FC236}">
                <a16:creationId xmlns:a16="http://schemas.microsoft.com/office/drawing/2014/main" id="{3EFBC52D-BBB9-495F-8946-83ED2CE9942C}"/>
              </a:ext>
            </a:extLst>
          </p:cNvPr>
          <p:cNvSpPr txBox="1">
            <a:spLocks/>
          </p:cNvSpPr>
          <p:nvPr/>
        </p:nvSpPr>
        <p:spPr>
          <a:xfrm>
            <a:off x="668440" y="226137"/>
            <a:ext cx="8001000" cy="417664"/>
          </a:xfrm>
          <a:prstGeom prst="rect">
            <a:avLst/>
          </a:prstGeom>
          <a:effectLst/>
        </p:spPr>
        <p:txBody>
          <a:bodyPr vert="horz" lIns="91440" tIns="45720" rIns="91440" bIns="45720" rtlCol="0" anchor="ctr">
            <a:normAutofit fontScale="90000"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Source Tree </a:t>
            </a:r>
          </a:p>
        </p:txBody>
      </p:sp>
      <p:pic>
        <p:nvPicPr>
          <p:cNvPr id="2" name="Picture 1">
            <a:extLst>
              <a:ext uri="{FF2B5EF4-FFF2-40B4-BE49-F238E27FC236}">
                <a16:creationId xmlns:a16="http://schemas.microsoft.com/office/drawing/2014/main" id="{6A3FCDA2-C60B-4A35-9117-2F5C5EBDBFB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16233227"/>
      </p:ext>
    </p:extLst>
  </p:cSld>
  <p:clrMapOvr>
    <a:masterClrMapping/>
  </p:clrMapOvr>
  <p:transition spd="slow" advTm="26545">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106165-2F76-4E82-91AA-BFEE03C9AB5E}"/>
              </a:ext>
            </a:extLst>
          </p:cNvPr>
          <p:cNvSpPr>
            <a:spLocks noGrp="1"/>
          </p:cNvSpPr>
          <p:nvPr>
            <p:ph type="ctrTitle"/>
          </p:nvPr>
        </p:nvSpPr>
        <p:spPr>
          <a:xfrm>
            <a:off x="684212" y="685799"/>
            <a:ext cx="8001000" cy="695961"/>
          </a:xfrm>
        </p:spPr>
        <p:txBody>
          <a:bodyPr>
            <a:normAutofit/>
          </a:bodyPr>
          <a:lstStyle/>
          <a:p>
            <a:r>
              <a:rPr lang="en-US" sz="3200" dirty="0">
                <a:solidFill>
                  <a:srgbClr val="002060"/>
                </a:solidFill>
              </a:rPr>
              <a:t>Best practices</a:t>
            </a:r>
          </a:p>
        </p:txBody>
      </p:sp>
      <p:sp>
        <p:nvSpPr>
          <p:cNvPr id="13" name="Rectangle 8">
            <a:extLst>
              <a:ext uri="{FF2B5EF4-FFF2-40B4-BE49-F238E27FC236}">
                <a16:creationId xmlns:a16="http://schemas.microsoft.com/office/drawing/2014/main" id="{0B92733C-81F6-4284-94ED-459B9F6ECADF}"/>
              </a:ext>
            </a:extLst>
          </p:cNvPr>
          <p:cNvSpPr>
            <a:spLocks noGrp="1" noChangeArrowheads="1"/>
          </p:cNvSpPr>
          <p:nvPr>
            <p:ph type="subTitle" idx="1"/>
          </p:nvPr>
        </p:nvSpPr>
        <p:spPr bwMode="auto">
          <a:xfrm>
            <a:off x="816292" y="2083505"/>
            <a:ext cx="10898188"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buClrTx/>
              <a:buSzTx/>
            </a:pPr>
            <a:endParaRPr lang="en-US" altLang="en-US" sz="2400" dirty="0">
              <a:solidFill>
                <a:srgbClr val="333333"/>
              </a:solidFill>
              <a:latin typeface="Titillium Web"/>
            </a:endParaRPr>
          </a:p>
          <a:p>
            <a:pPr defTabSz="914400">
              <a:buClrTx/>
              <a:buSzTx/>
            </a:pPr>
            <a:endParaRPr lang="en-US" altLang="en-US" sz="2400" dirty="0">
              <a:solidFill>
                <a:srgbClr val="333333"/>
              </a:solidFill>
              <a:latin typeface="Titillium Web"/>
            </a:endParaRPr>
          </a:p>
          <a:p>
            <a:pPr marL="342900" indent="-342900" defTabSz="914400">
              <a:buClrTx/>
              <a:buSzTx/>
              <a:buFont typeface="Arial" panose="020B0604020202020204" pitchFamily="34" charset="0"/>
              <a:buChar char="•"/>
            </a:pPr>
            <a:r>
              <a:rPr lang="en-US" altLang="en-US" sz="2400" dirty="0">
                <a:solidFill>
                  <a:srgbClr val="333333"/>
                </a:solidFill>
                <a:latin typeface="Titillium Web"/>
              </a:rPr>
              <a:t> There is no </a:t>
            </a:r>
            <a:r>
              <a:rPr lang="en-US" altLang="en-US" sz="2400" dirty="0" err="1">
                <a:solidFill>
                  <a:srgbClr val="333333"/>
                </a:solidFill>
                <a:latin typeface="Titillium Web"/>
              </a:rPr>
              <a:t>restrcitions</a:t>
            </a:r>
            <a:r>
              <a:rPr lang="en-US" altLang="en-US" sz="2400" dirty="0">
                <a:solidFill>
                  <a:srgbClr val="333333"/>
                </a:solidFill>
                <a:latin typeface="Titillium Web"/>
              </a:rPr>
              <a:t> the number/name of branch you will have in local.  It is better you will have same set of Branches as in Remote into your local.</a:t>
            </a:r>
          </a:p>
          <a:p>
            <a:pPr defTabSz="914400">
              <a:buClrTx/>
              <a:buSzTx/>
            </a:pPr>
            <a:endParaRPr lang="en-US" altLang="en-US" sz="2400" dirty="0">
              <a:solidFill>
                <a:srgbClr val="333333"/>
              </a:solidFill>
              <a:latin typeface="Titillium Web"/>
            </a:endParaRPr>
          </a:p>
          <a:p>
            <a:pPr marL="342900" indent="-342900" defTabSz="914400">
              <a:buClrTx/>
              <a:buSzTx/>
              <a:buFont typeface="Arial" panose="020B0604020202020204" pitchFamily="34" charset="0"/>
              <a:buChar char="•"/>
            </a:pPr>
            <a:r>
              <a:rPr lang="en-US" altLang="en-US" sz="2400" dirty="0">
                <a:solidFill>
                  <a:srgbClr val="333333"/>
                </a:solidFill>
                <a:latin typeface="Titillium Web"/>
              </a:rPr>
              <a:t> Ideally you should be having the same branch name in local as well remote to clearly identify for self and other Team members. </a:t>
            </a:r>
          </a:p>
          <a:p>
            <a:pPr defTabSz="914400">
              <a:buClrTx/>
              <a:buSzTx/>
            </a:pPr>
            <a:endParaRPr lang="en-US" altLang="en-US" sz="2400" dirty="0">
              <a:solidFill>
                <a:srgbClr val="333333"/>
              </a:solidFill>
              <a:latin typeface="Titillium Web"/>
            </a:endParaRPr>
          </a:p>
          <a:p>
            <a:pPr defTabSz="914400">
              <a:buClrTx/>
              <a:buSzTx/>
            </a:pPr>
            <a:endParaRPr lang="en-US" altLang="en-US" sz="2400" dirty="0">
              <a:solidFill>
                <a:srgbClr val="333333"/>
              </a:solidFill>
              <a:latin typeface="Titillium Web"/>
            </a:endParaRPr>
          </a:p>
          <a:p>
            <a:pPr defTabSz="914400">
              <a:buClrTx/>
              <a:buSzTx/>
            </a:pPr>
            <a:endParaRPr lang="en-US" altLang="en-US" sz="2400" dirty="0">
              <a:solidFill>
                <a:srgbClr val="333333"/>
              </a:solidFill>
              <a:latin typeface="Titillium Web"/>
            </a:endParaRPr>
          </a:p>
        </p:txBody>
      </p:sp>
    </p:spTree>
    <p:extLst>
      <p:ext uri="{BB962C8B-B14F-4D97-AF65-F5344CB8AC3E}">
        <p14:creationId xmlns:p14="http://schemas.microsoft.com/office/powerpoint/2010/main" val="3795766402"/>
      </p:ext>
    </p:extLst>
  </p:cSld>
  <p:clrMapOvr>
    <a:masterClrMapping/>
  </p:clrMapOvr>
  <p:transition spd="slow" advTm="20180">
    <p:randomBar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DD2F-07FE-4B96-8A21-7D5F7BD3CB58}"/>
              </a:ext>
            </a:extLst>
          </p:cNvPr>
          <p:cNvSpPr>
            <a:spLocks noGrp="1"/>
          </p:cNvSpPr>
          <p:nvPr>
            <p:ph type="ctrTitle"/>
          </p:nvPr>
        </p:nvSpPr>
        <p:spPr/>
        <p:txBody>
          <a:bodyPr>
            <a:normAutofit/>
          </a:bodyPr>
          <a:lstStyle/>
          <a:p>
            <a:r>
              <a:rPr lang="en-US" sz="4000" dirty="0">
                <a:solidFill>
                  <a:schemeClr val="accent1">
                    <a:lumMod val="75000"/>
                  </a:schemeClr>
                </a:solidFill>
              </a:rPr>
              <a:t>Thank you</a:t>
            </a:r>
            <a:br>
              <a:rPr lang="en-US" sz="4000" dirty="0">
                <a:solidFill>
                  <a:schemeClr val="accent1">
                    <a:lumMod val="75000"/>
                  </a:schemeClr>
                </a:solidFill>
              </a:rPr>
            </a:br>
            <a:br>
              <a:rPr lang="en-US" sz="4000">
                <a:solidFill>
                  <a:schemeClr val="accent1">
                    <a:lumMod val="75000"/>
                  </a:schemeClr>
                </a:solidFill>
              </a:rPr>
            </a:br>
            <a:endParaRPr lang="en-US" sz="1800" dirty="0">
              <a:solidFill>
                <a:schemeClr val="accent1">
                  <a:lumMod val="75000"/>
                </a:schemeClr>
              </a:solidFill>
            </a:endParaRPr>
          </a:p>
        </p:txBody>
      </p:sp>
    </p:spTree>
    <p:extLst>
      <p:ext uri="{BB962C8B-B14F-4D97-AF65-F5344CB8AC3E}">
        <p14:creationId xmlns:p14="http://schemas.microsoft.com/office/powerpoint/2010/main" val="718714015"/>
      </p:ext>
    </p:extLst>
  </p:cSld>
  <p:clrMapOvr>
    <a:masterClrMapping/>
  </p:clrMapOvr>
  <p:transition spd="slow" advTm="6199">
    <p:randomBar dir="vert"/>
  </p:transition>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410</TotalTime>
  <Words>1508</Words>
  <Application>Microsoft Office PowerPoint</Application>
  <PresentationFormat>Widescreen</PresentationFormat>
  <Paragraphs>209</Paragraphs>
  <Slides>38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6" baseType="lpstr">
      <vt:lpstr>Arial</vt:lpstr>
      <vt:lpstr>Calibri</vt:lpstr>
      <vt:lpstr>Century Gothic</vt:lpstr>
      <vt:lpstr>Inconsolata</vt:lpstr>
      <vt:lpstr>Titillium Web</vt:lpstr>
      <vt:lpstr>Wingdings 3</vt:lpstr>
      <vt:lpstr>Slice</vt:lpstr>
      <vt:lpstr>Packager Shell Object</vt:lpstr>
      <vt:lpstr>Driessen’s Model</vt:lpstr>
      <vt:lpstr>GITFLOW</vt:lpstr>
      <vt:lpstr>Decentralized but Centralized: As Git is DVCS, there is no such thing as a central repo at a technical level. We will refer to main repo as origin, since this name is familiar to all Git users </vt:lpstr>
      <vt:lpstr>Gitflow /Driessen Model</vt:lpstr>
      <vt:lpstr>Main branches</vt:lpstr>
      <vt:lpstr>Main branches</vt:lpstr>
      <vt:lpstr>PowerPoint Presentation</vt:lpstr>
      <vt:lpstr>Supporting branches</vt:lpstr>
      <vt:lpstr>Supporting branches</vt:lpstr>
      <vt:lpstr>Supporting branches : Feature branch</vt:lpstr>
      <vt:lpstr>Supporting branches : Feature branch</vt:lpstr>
      <vt:lpstr>PowerPoint Presentation</vt:lpstr>
      <vt:lpstr>Supporting branches : Release branch</vt:lpstr>
      <vt:lpstr>Supporting branches :  Release branch</vt:lpstr>
      <vt:lpstr>Supporting branches : Hotfix branch</vt:lpstr>
      <vt:lpstr>Supporting branches : Hotfix branch</vt:lpstr>
      <vt:lpstr>PowerPoint Presentation</vt:lpstr>
      <vt:lpstr>Gitflow /Driessen Model</vt:lpstr>
      <vt:lpstr>GITFLOW: How it works</vt:lpstr>
      <vt:lpstr>GITFLOW: How it works</vt:lpstr>
      <vt:lpstr>GITFLOW: How it works</vt:lpstr>
      <vt:lpstr>GITFLOW: How it works</vt:lpstr>
      <vt:lpstr>GITFLOW: How it works</vt:lpstr>
      <vt:lpstr>PowerPoint Presentation</vt:lpstr>
      <vt:lpstr>Software Requirements</vt:lpstr>
      <vt:lpstr>PowerPoint Presentation</vt:lpstr>
      <vt:lpstr>PowerPoint Presentation</vt:lpstr>
      <vt:lpstr>Git Tips –  basic operations from command line</vt:lpstr>
      <vt:lpstr>Git Tips –  basic operations from command line</vt:lpstr>
      <vt:lpstr>Git Tips –  basic operations from command line</vt:lpstr>
      <vt:lpstr>Git Tips –  basic operations from command line</vt:lpstr>
      <vt:lpstr>Git Tips –  basic operations from command line</vt:lpstr>
      <vt:lpstr>Git Tips – command line</vt:lpstr>
      <vt:lpstr>Git Tips – Merging</vt:lpstr>
      <vt:lpstr>Git Tips – command line operations</vt:lpstr>
      <vt:lpstr>PowerPoint Presentation</vt:lpstr>
      <vt:lpstr>Best practices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Driessen Model</dc:title>
  <dc:creator>Kandasubbu, Loganatha Raja</dc:creator>
  <cp:lastModifiedBy>Kandasubbu, Loganatha Raja</cp:lastModifiedBy>
  <cp:revision>139</cp:revision>
  <dcterms:created xsi:type="dcterms:W3CDTF">2019-02-12T06:36:54Z</dcterms:created>
  <dcterms:modified xsi:type="dcterms:W3CDTF">2019-05-13T12:22:26Z</dcterms:modified>
</cp:coreProperties>
</file>